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Heebo" charset="-79"/>
      <p:regular r:id="rId13"/>
    </p:embeddedFont>
    <p:embeddedFont>
      <p:font typeface="Montserrat" charset="0"/>
      <p:regular r:id="rId14"/>
    </p:embeddedFont>
    <p:embeddedFont>
      <p:font typeface="Calibri" pitchFamily="34" charset="0"/>
      <p:regular r:id="rId15"/>
      <p:bold r:id="rId16"/>
      <p:italic r:id="rId17"/>
      <p:boldItalic r:id="rId18"/>
    </p:embeddedFont>
    <p:embeddedFont>
      <p:font typeface="Britannic Bold" pitchFamily="3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0" d="100"/>
          <a:sy n="80" d="100"/>
        </p:scale>
        <p:origin x="-139" y="86"/>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CDBE1359-E1A2-484A-AF81-FAA300BCB1E3}" type="datetimeFigureOut">
              <a:rPr lang="en-IN" smtClean="0"/>
              <a:t>11-09-2024</a:t>
            </a:fld>
            <a:endParaRPr lang="en-IN"/>
          </a:p>
        </p:txBody>
      </p:sp>
      <p:sp>
        <p:nvSpPr>
          <p:cNvPr id="4" name="Slide Image Placeholder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822325" y="6950075"/>
            <a:ext cx="6584950" cy="65833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50F47D15-7630-464E-AAE4-218CDDB84BFF}" type="slidenum">
              <a:rPr lang="en-IN" smtClean="0"/>
              <a:t>‹#›</a:t>
            </a:fld>
            <a:endParaRPr lang="en-IN"/>
          </a:p>
        </p:txBody>
      </p:sp>
    </p:spTree>
    <p:extLst>
      <p:ext uri="{BB962C8B-B14F-4D97-AF65-F5344CB8AC3E}">
        <p14:creationId xmlns:p14="http://schemas.microsoft.com/office/powerpoint/2010/main" val="3397996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1010245"/>
            <a:ext cx="7415927" cy="4258628"/>
          </a:xfrm>
          <a:prstGeom prst="rect">
            <a:avLst/>
          </a:prstGeom>
          <a:noFill/>
          <a:ln/>
        </p:spPr>
        <p:txBody>
          <a:bodyPr wrap="square" lIns="0" tIns="0" rIns="0" bIns="0" rtlCol="0" anchor="t"/>
          <a:lstStyle/>
          <a:p>
            <a:pPr marL="0" indent="0">
              <a:lnSpc>
                <a:spcPts val="8350"/>
              </a:lnSpc>
              <a:buNone/>
            </a:pPr>
            <a:r>
              <a:rPr lang="en-US" sz="6700" dirty="0">
                <a:solidFill>
                  <a:srgbClr val="F2F0F4"/>
                </a:solidFill>
                <a:latin typeface="Montserrat" pitchFamily="34" charset="0"/>
                <a:ea typeface="Montserrat" pitchFamily="34" charset="-122"/>
                <a:cs typeface="Montserrat" pitchFamily="34" charset="-120"/>
              </a:rPr>
              <a:t>RevivingPxls: Bringing </a:t>
            </a:r>
            <a:r>
              <a:rPr lang="en-US" sz="6700" dirty="0" smtClean="0">
                <a:solidFill>
                  <a:srgbClr val="F2F0F4"/>
                </a:solidFill>
                <a:latin typeface="Montserrat" pitchFamily="34" charset="0"/>
                <a:ea typeface="Montserrat" pitchFamily="34" charset="-122"/>
                <a:cs typeface="Montserrat" pitchFamily="34" charset="-120"/>
              </a:rPr>
              <a:t>Black-and-White </a:t>
            </a:r>
            <a:r>
              <a:rPr lang="en-US" sz="6700" dirty="0">
                <a:solidFill>
                  <a:srgbClr val="F2F0F4"/>
                </a:solidFill>
                <a:latin typeface="Montserrat" pitchFamily="34" charset="0"/>
                <a:ea typeface="Montserrat" pitchFamily="34" charset="-122"/>
                <a:cs typeface="Montserrat" pitchFamily="34" charset="-120"/>
              </a:rPr>
              <a:t>Images to Life</a:t>
            </a:r>
            <a:endParaRPr lang="en-US" sz="6700" dirty="0"/>
          </a:p>
        </p:txBody>
      </p:sp>
      <p:sp>
        <p:nvSpPr>
          <p:cNvPr id="4" name="Text 1"/>
          <p:cNvSpPr/>
          <p:nvPr/>
        </p:nvSpPr>
        <p:spPr>
          <a:xfrm>
            <a:off x="6350437" y="5639157"/>
            <a:ext cx="7415927" cy="1580198"/>
          </a:xfrm>
          <a:prstGeom prst="rect">
            <a:avLst/>
          </a:prstGeom>
          <a:noFill/>
          <a:ln/>
        </p:spPr>
        <p:txBody>
          <a:bodyPr wrap="square" lIns="0" tIns="0" rIns="0" bIns="0" rtlCol="0" anchor="t"/>
          <a:lstStyle/>
          <a:p>
            <a:pPr marL="0" indent="0">
              <a:lnSpc>
                <a:spcPts val="3100"/>
              </a:lnSpc>
              <a:buNone/>
            </a:pPr>
            <a:r>
              <a:rPr lang="en-US" sz="1900" dirty="0">
                <a:solidFill>
                  <a:srgbClr val="DCD7E5"/>
                </a:solidFill>
                <a:latin typeface="Heebo" pitchFamily="34" charset="0"/>
                <a:ea typeface="Heebo" pitchFamily="34" charset="-122"/>
                <a:cs typeface="Heebo" pitchFamily="34" charset="-120"/>
              </a:rPr>
              <a:t>RevivingPxls is an innovative tool that uses machine learning to breathe new life into black-and-white images. This technology transforms faded photographs into vibrant, colorful versions, bringing history and memories back to life.</a:t>
            </a:r>
            <a:endParaRPr lang="en-US" sz="1900" dirty="0"/>
          </a:p>
        </p:txBody>
      </p:sp>
      <p:sp>
        <p:nvSpPr>
          <p:cNvPr id="5" name="Rounded Rectangle 4"/>
          <p:cNvSpPr/>
          <p:nvPr/>
        </p:nvSpPr>
        <p:spPr>
          <a:xfrm>
            <a:off x="12030075" y="7600950"/>
            <a:ext cx="2476500" cy="514350"/>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err="1" smtClean="0">
                <a:solidFill>
                  <a:schemeClr val="bg1"/>
                </a:solidFill>
                <a:latin typeface="Britannic Bold" pitchFamily="34" charset="0"/>
                <a:ea typeface="Montserrat" pitchFamily="34" charset="-122"/>
                <a:cs typeface="Montserrat" pitchFamily="34" charset="-120"/>
              </a:rPr>
              <a:t>RevivingPxls</a:t>
            </a:r>
            <a:endParaRPr lang="en-IN" b="1" dirty="0">
              <a:solidFill>
                <a:schemeClr val="bg1"/>
              </a:solidFill>
              <a:latin typeface="Britannic Bold"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1224082"/>
            <a:ext cx="7562255" cy="771525"/>
          </a:xfrm>
          <a:prstGeom prst="rect">
            <a:avLst/>
          </a:prstGeom>
          <a:noFill/>
          <a:ln/>
        </p:spPr>
        <p:txBody>
          <a:bodyPr wrap="none" lIns="0" tIns="0" rIns="0" bIns="0" rtlCol="0" anchor="t"/>
          <a:lstStyle/>
          <a:p>
            <a:pPr marL="0" indent="0">
              <a:lnSpc>
                <a:spcPts val="6050"/>
              </a:lnSpc>
              <a:buNone/>
            </a:pPr>
            <a:r>
              <a:rPr lang="en-US" sz="4850" dirty="0">
                <a:solidFill>
                  <a:srgbClr val="F2F0F4"/>
                </a:solidFill>
                <a:latin typeface="Montserrat" pitchFamily="34" charset="0"/>
                <a:ea typeface="Montserrat" pitchFamily="34" charset="-122"/>
                <a:cs typeface="Montserrat" pitchFamily="34" charset="-120"/>
              </a:rPr>
              <a:t>How RevivingPxls Works</a:t>
            </a:r>
            <a:endParaRPr lang="en-US" sz="4850" dirty="0"/>
          </a:p>
        </p:txBody>
      </p:sp>
      <p:pic>
        <p:nvPicPr>
          <p:cNvPr id="3" name="Image 0" descr="preencoded.png"/>
          <p:cNvPicPr>
            <a:picLocks noChangeAspect="1"/>
          </p:cNvPicPr>
          <p:nvPr/>
        </p:nvPicPr>
        <p:blipFill>
          <a:blip r:embed="rId3"/>
          <a:stretch>
            <a:fillRect/>
          </a:stretch>
        </p:blipFill>
        <p:spPr>
          <a:xfrm>
            <a:off x="864037" y="2365891"/>
            <a:ext cx="2947868" cy="1821894"/>
          </a:xfrm>
          <a:prstGeom prst="rect">
            <a:avLst/>
          </a:prstGeom>
        </p:spPr>
      </p:pic>
      <p:sp>
        <p:nvSpPr>
          <p:cNvPr id="4" name="Text 1"/>
          <p:cNvSpPr/>
          <p:nvPr/>
        </p:nvSpPr>
        <p:spPr>
          <a:xfrm>
            <a:off x="864037" y="4496395"/>
            <a:ext cx="2947868" cy="385763"/>
          </a:xfrm>
          <a:prstGeom prst="rect">
            <a:avLst/>
          </a:prstGeom>
          <a:noFill/>
          <a:ln/>
        </p:spPr>
        <p:txBody>
          <a:bodyPr wrap="none" lIns="0" tIns="0" rIns="0" bIns="0" rtlCol="0" anchor="t"/>
          <a:lstStyle/>
          <a:p>
            <a:pPr marL="0" indent="0" algn="l">
              <a:lnSpc>
                <a:spcPts val="3000"/>
              </a:lnSpc>
              <a:buNone/>
            </a:pPr>
            <a:r>
              <a:rPr lang="en-US" sz="2400" dirty="0">
                <a:solidFill>
                  <a:srgbClr val="DCD7E5"/>
                </a:solidFill>
                <a:latin typeface="Montserrat" pitchFamily="34" charset="0"/>
                <a:ea typeface="Montserrat" pitchFamily="34" charset="-122"/>
                <a:cs typeface="Montserrat" pitchFamily="34" charset="-120"/>
              </a:rPr>
              <a:t>Input Image</a:t>
            </a:r>
            <a:endParaRPr lang="en-US" sz="2400" dirty="0"/>
          </a:p>
        </p:txBody>
      </p:sp>
      <p:sp>
        <p:nvSpPr>
          <p:cNvPr id="5" name="Text 2"/>
          <p:cNvSpPr/>
          <p:nvPr/>
        </p:nvSpPr>
        <p:spPr>
          <a:xfrm>
            <a:off x="864037" y="5030272"/>
            <a:ext cx="2947868" cy="1580198"/>
          </a:xfrm>
          <a:prstGeom prst="rect">
            <a:avLst/>
          </a:prstGeom>
          <a:noFill/>
          <a:ln/>
        </p:spPr>
        <p:txBody>
          <a:bodyPr wrap="square" lIns="0" tIns="0" rIns="0" bIns="0" rtlCol="0" anchor="t"/>
          <a:lstStyle/>
          <a:p>
            <a:pPr marL="0" indent="0" algn="l">
              <a:lnSpc>
                <a:spcPts val="3100"/>
              </a:lnSpc>
              <a:buNone/>
            </a:pPr>
            <a:r>
              <a:rPr lang="en-US" sz="1900" dirty="0">
                <a:solidFill>
                  <a:srgbClr val="DCD7E5"/>
                </a:solidFill>
                <a:latin typeface="Heebo" pitchFamily="34" charset="0"/>
                <a:ea typeface="Heebo" pitchFamily="34" charset="-122"/>
                <a:cs typeface="Heebo" pitchFamily="34" charset="-120"/>
              </a:rPr>
              <a:t>RevivingPxls begins by receiving a black-and-white image as input, ready to be transformed.</a:t>
            </a:r>
            <a:endParaRPr lang="en-US" sz="1900" dirty="0"/>
          </a:p>
        </p:txBody>
      </p:sp>
      <p:pic>
        <p:nvPicPr>
          <p:cNvPr id="6" name="Image 1" descr="preencoded.png"/>
          <p:cNvPicPr>
            <a:picLocks noChangeAspect="1"/>
          </p:cNvPicPr>
          <p:nvPr/>
        </p:nvPicPr>
        <p:blipFill>
          <a:blip r:embed="rId4"/>
          <a:stretch>
            <a:fillRect/>
          </a:stretch>
        </p:blipFill>
        <p:spPr>
          <a:xfrm>
            <a:off x="4182189" y="2365891"/>
            <a:ext cx="2947868" cy="1821894"/>
          </a:xfrm>
          <a:prstGeom prst="rect">
            <a:avLst/>
          </a:prstGeom>
        </p:spPr>
      </p:pic>
      <p:sp>
        <p:nvSpPr>
          <p:cNvPr id="7" name="Text 3"/>
          <p:cNvSpPr/>
          <p:nvPr/>
        </p:nvSpPr>
        <p:spPr>
          <a:xfrm>
            <a:off x="4182189" y="4496395"/>
            <a:ext cx="2947868" cy="385763"/>
          </a:xfrm>
          <a:prstGeom prst="rect">
            <a:avLst/>
          </a:prstGeom>
          <a:noFill/>
          <a:ln/>
        </p:spPr>
        <p:txBody>
          <a:bodyPr wrap="none" lIns="0" tIns="0" rIns="0" bIns="0" rtlCol="0" anchor="t"/>
          <a:lstStyle/>
          <a:p>
            <a:pPr marL="0" indent="0" algn="l">
              <a:lnSpc>
                <a:spcPts val="3000"/>
              </a:lnSpc>
              <a:buNone/>
            </a:pPr>
            <a:r>
              <a:rPr lang="en-US" sz="2400" dirty="0">
                <a:solidFill>
                  <a:srgbClr val="DCD7E5"/>
                </a:solidFill>
                <a:latin typeface="Montserrat" pitchFamily="34" charset="0"/>
                <a:ea typeface="Montserrat" pitchFamily="34" charset="-122"/>
                <a:cs typeface="Montserrat" pitchFamily="34" charset="-120"/>
              </a:rPr>
              <a:t>Preprocessing</a:t>
            </a:r>
            <a:endParaRPr lang="en-US" sz="2400" dirty="0"/>
          </a:p>
        </p:txBody>
      </p:sp>
      <p:sp>
        <p:nvSpPr>
          <p:cNvPr id="8" name="Text 4"/>
          <p:cNvSpPr/>
          <p:nvPr/>
        </p:nvSpPr>
        <p:spPr>
          <a:xfrm>
            <a:off x="4182189" y="5030272"/>
            <a:ext cx="2947868" cy="1975247"/>
          </a:xfrm>
          <a:prstGeom prst="rect">
            <a:avLst/>
          </a:prstGeom>
          <a:noFill/>
          <a:ln/>
        </p:spPr>
        <p:txBody>
          <a:bodyPr wrap="square" lIns="0" tIns="0" rIns="0" bIns="0" rtlCol="0" anchor="t"/>
          <a:lstStyle/>
          <a:p>
            <a:pPr marL="0" indent="0" algn="l">
              <a:lnSpc>
                <a:spcPts val="3100"/>
              </a:lnSpc>
              <a:buNone/>
            </a:pPr>
            <a:r>
              <a:rPr lang="en-US" sz="1900" dirty="0">
                <a:solidFill>
                  <a:srgbClr val="DCD7E5"/>
                </a:solidFill>
                <a:latin typeface="Heebo" pitchFamily="34" charset="0"/>
                <a:ea typeface="Heebo" pitchFamily="34" charset="-122"/>
                <a:cs typeface="Heebo" pitchFamily="34" charset="-120"/>
              </a:rPr>
              <a:t>The image undergoes preprocessing, ensuring it's ready for the AI model. This involves resizing and optimizing the image.</a:t>
            </a:r>
            <a:endParaRPr lang="en-US" sz="1900" dirty="0"/>
          </a:p>
        </p:txBody>
      </p:sp>
      <p:pic>
        <p:nvPicPr>
          <p:cNvPr id="9" name="Image 2" descr="preencoded.png"/>
          <p:cNvPicPr>
            <a:picLocks noChangeAspect="1"/>
          </p:cNvPicPr>
          <p:nvPr/>
        </p:nvPicPr>
        <p:blipFill>
          <a:blip r:embed="rId5"/>
          <a:stretch>
            <a:fillRect/>
          </a:stretch>
        </p:blipFill>
        <p:spPr>
          <a:xfrm>
            <a:off x="7500342" y="2365891"/>
            <a:ext cx="2947868" cy="1821894"/>
          </a:xfrm>
          <a:prstGeom prst="rect">
            <a:avLst/>
          </a:prstGeom>
        </p:spPr>
      </p:pic>
      <p:sp>
        <p:nvSpPr>
          <p:cNvPr id="10" name="Text 5"/>
          <p:cNvSpPr/>
          <p:nvPr/>
        </p:nvSpPr>
        <p:spPr>
          <a:xfrm>
            <a:off x="7500342" y="4496395"/>
            <a:ext cx="2947868" cy="385763"/>
          </a:xfrm>
          <a:prstGeom prst="rect">
            <a:avLst/>
          </a:prstGeom>
          <a:noFill/>
          <a:ln/>
        </p:spPr>
        <p:txBody>
          <a:bodyPr wrap="none" lIns="0" tIns="0" rIns="0" bIns="0" rtlCol="0" anchor="t"/>
          <a:lstStyle/>
          <a:p>
            <a:pPr marL="0" indent="0" algn="l">
              <a:lnSpc>
                <a:spcPts val="3000"/>
              </a:lnSpc>
              <a:buNone/>
            </a:pPr>
            <a:r>
              <a:rPr lang="en-US" sz="2400" dirty="0">
                <a:solidFill>
                  <a:srgbClr val="DCD7E5"/>
                </a:solidFill>
                <a:latin typeface="Montserrat" pitchFamily="34" charset="0"/>
                <a:ea typeface="Montserrat" pitchFamily="34" charset="-122"/>
                <a:cs typeface="Montserrat" pitchFamily="34" charset="-120"/>
              </a:rPr>
              <a:t>Colorization</a:t>
            </a:r>
            <a:endParaRPr lang="en-US" sz="2400" dirty="0"/>
          </a:p>
        </p:txBody>
      </p:sp>
      <p:sp>
        <p:nvSpPr>
          <p:cNvPr id="11" name="Text 6"/>
          <p:cNvSpPr/>
          <p:nvPr/>
        </p:nvSpPr>
        <p:spPr>
          <a:xfrm>
            <a:off x="7500342" y="5030272"/>
            <a:ext cx="2947868" cy="1975247"/>
          </a:xfrm>
          <a:prstGeom prst="rect">
            <a:avLst/>
          </a:prstGeom>
          <a:noFill/>
          <a:ln/>
        </p:spPr>
        <p:txBody>
          <a:bodyPr wrap="square" lIns="0" tIns="0" rIns="0" bIns="0" rtlCol="0" anchor="t"/>
          <a:lstStyle/>
          <a:p>
            <a:pPr marL="0" indent="0" algn="l">
              <a:lnSpc>
                <a:spcPts val="3100"/>
              </a:lnSpc>
              <a:buNone/>
            </a:pPr>
            <a:r>
              <a:rPr lang="en-US" sz="1900" dirty="0">
                <a:solidFill>
                  <a:srgbClr val="DCD7E5"/>
                </a:solidFill>
                <a:latin typeface="Heebo" pitchFamily="34" charset="0"/>
                <a:ea typeface="Heebo" pitchFamily="34" charset="-122"/>
                <a:cs typeface="Heebo" pitchFamily="34" charset="-120"/>
              </a:rPr>
              <a:t>The heart of RevivingPxls lies in the AI model that analyzes the image and predicts the most likely colors for each pixel.</a:t>
            </a:r>
            <a:endParaRPr lang="en-US" sz="1900" dirty="0"/>
          </a:p>
        </p:txBody>
      </p:sp>
      <p:pic>
        <p:nvPicPr>
          <p:cNvPr id="12" name="Image 3" descr="preencoded.png"/>
          <p:cNvPicPr>
            <a:picLocks noChangeAspect="1"/>
          </p:cNvPicPr>
          <p:nvPr/>
        </p:nvPicPr>
        <p:blipFill>
          <a:blip r:embed="rId6"/>
          <a:stretch>
            <a:fillRect/>
          </a:stretch>
        </p:blipFill>
        <p:spPr>
          <a:xfrm>
            <a:off x="10818495" y="2365891"/>
            <a:ext cx="2947868" cy="1821894"/>
          </a:xfrm>
          <a:prstGeom prst="rect">
            <a:avLst/>
          </a:prstGeom>
        </p:spPr>
      </p:pic>
      <p:sp>
        <p:nvSpPr>
          <p:cNvPr id="13" name="Text 7"/>
          <p:cNvSpPr/>
          <p:nvPr/>
        </p:nvSpPr>
        <p:spPr>
          <a:xfrm>
            <a:off x="10818495" y="4496395"/>
            <a:ext cx="2947868" cy="385763"/>
          </a:xfrm>
          <a:prstGeom prst="rect">
            <a:avLst/>
          </a:prstGeom>
          <a:noFill/>
          <a:ln/>
        </p:spPr>
        <p:txBody>
          <a:bodyPr wrap="none" lIns="0" tIns="0" rIns="0" bIns="0" rtlCol="0" anchor="t"/>
          <a:lstStyle/>
          <a:p>
            <a:pPr marL="0" indent="0" algn="l">
              <a:lnSpc>
                <a:spcPts val="3000"/>
              </a:lnSpc>
              <a:buNone/>
            </a:pPr>
            <a:r>
              <a:rPr lang="en-US" sz="2400" dirty="0">
                <a:solidFill>
                  <a:srgbClr val="DCD7E5"/>
                </a:solidFill>
                <a:latin typeface="Montserrat" pitchFamily="34" charset="0"/>
                <a:ea typeface="Montserrat" pitchFamily="34" charset="-122"/>
                <a:cs typeface="Montserrat" pitchFamily="34" charset="-120"/>
              </a:rPr>
              <a:t>Output Image</a:t>
            </a:r>
            <a:endParaRPr lang="en-US" sz="2400" dirty="0"/>
          </a:p>
        </p:txBody>
      </p:sp>
      <p:sp>
        <p:nvSpPr>
          <p:cNvPr id="14" name="Text 8"/>
          <p:cNvSpPr/>
          <p:nvPr/>
        </p:nvSpPr>
        <p:spPr>
          <a:xfrm>
            <a:off x="10818495" y="5030272"/>
            <a:ext cx="2947868" cy="1580198"/>
          </a:xfrm>
          <a:prstGeom prst="rect">
            <a:avLst/>
          </a:prstGeom>
          <a:noFill/>
          <a:ln/>
        </p:spPr>
        <p:txBody>
          <a:bodyPr wrap="square" lIns="0" tIns="0" rIns="0" bIns="0" rtlCol="0" anchor="t"/>
          <a:lstStyle/>
          <a:p>
            <a:pPr marL="0" indent="0" algn="l">
              <a:lnSpc>
                <a:spcPts val="3100"/>
              </a:lnSpc>
              <a:buNone/>
            </a:pPr>
            <a:r>
              <a:rPr lang="en-US" sz="1900" dirty="0">
                <a:solidFill>
                  <a:srgbClr val="DCD7E5"/>
                </a:solidFill>
                <a:latin typeface="Heebo" pitchFamily="34" charset="0"/>
                <a:ea typeface="Heebo" pitchFamily="34" charset="-122"/>
                <a:cs typeface="Heebo" pitchFamily="34" charset="-120"/>
              </a:rPr>
              <a:t>The model generates the final colorized image, bringing the past back to life in vibrant colors.</a:t>
            </a:r>
            <a:endParaRPr lang="en-US" sz="1900" dirty="0"/>
          </a:p>
        </p:txBody>
      </p:sp>
      <p:sp>
        <p:nvSpPr>
          <p:cNvPr id="15" name="Rounded Rectangle 14"/>
          <p:cNvSpPr/>
          <p:nvPr/>
        </p:nvSpPr>
        <p:spPr>
          <a:xfrm>
            <a:off x="12030075" y="7629525"/>
            <a:ext cx="2476500" cy="514350"/>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err="1" smtClean="0">
                <a:solidFill>
                  <a:schemeClr val="bg1"/>
                </a:solidFill>
                <a:latin typeface="Britannic Bold" pitchFamily="34" charset="0"/>
                <a:ea typeface="Montserrat" pitchFamily="34" charset="-122"/>
                <a:cs typeface="Montserrat" pitchFamily="34" charset="-120"/>
              </a:rPr>
              <a:t>RevivingPxls</a:t>
            </a:r>
            <a:endParaRPr lang="en-IN" b="1" dirty="0">
              <a:solidFill>
                <a:schemeClr val="bg1"/>
              </a:solidFill>
              <a:latin typeface="Britannic Bold"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1610439"/>
            <a:ext cx="6172200" cy="771525"/>
          </a:xfrm>
          <a:prstGeom prst="rect">
            <a:avLst/>
          </a:prstGeom>
          <a:noFill/>
          <a:ln/>
        </p:spPr>
        <p:txBody>
          <a:bodyPr wrap="none" lIns="0" tIns="0" rIns="0" bIns="0" rtlCol="0" anchor="t"/>
          <a:lstStyle/>
          <a:p>
            <a:pPr marL="0" indent="0">
              <a:lnSpc>
                <a:spcPts val="6050"/>
              </a:lnSpc>
              <a:buNone/>
            </a:pPr>
            <a:r>
              <a:rPr lang="en-US" sz="4850" dirty="0">
                <a:solidFill>
                  <a:srgbClr val="F2F0F4"/>
                </a:solidFill>
                <a:latin typeface="Montserrat" pitchFamily="34" charset="0"/>
                <a:ea typeface="Montserrat" pitchFamily="34" charset="-122"/>
                <a:cs typeface="Montserrat" pitchFamily="34" charset="-120"/>
              </a:rPr>
              <a:t>Technology Stack</a:t>
            </a:r>
            <a:endParaRPr lang="en-US" sz="4850" dirty="0"/>
          </a:p>
        </p:txBody>
      </p:sp>
      <p:sp>
        <p:nvSpPr>
          <p:cNvPr id="3" name="Text 1"/>
          <p:cNvSpPr/>
          <p:nvPr/>
        </p:nvSpPr>
        <p:spPr>
          <a:xfrm>
            <a:off x="864037" y="2999065"/>
            <a:ext cx="3086100" cy="385763"/>
          </a:xfrm>
          <a:prstGeom prst="rect">
            <a:avLst/>
          </a:prstGeom>
          <a:noFill/>
          <a:ln/>
        </p:spPr>
        <p:txBody>
          <a:bodyPr wrap="none" lIns="0" tIns="0" rIns="0" bIns="0" rtlCol="0" anchor="t"/>
          <a:lstStyle/>
          <a:p>
            <a:pPr marL="0" indent="0">
              <a:lnSpc>
                <a:spcPts val="3000"/>
              </a:lnSpc>
              <a:buNone/>
            </a:pPr>
            <a:r>
              <a:rPr lang="en-US" sz="2400" dirty="0">
                <a:solidFill>
                  <a:srgbClr val="F2F0F4"/>
                </a:solidFill>
                <a:latin typeface="Montserrat" pitchFamily="34" charset="0"/>
                <a:ea typeface="Montserrat" pitchFamily="34" charset="-122"/>
                <a:cs typeface="Montserrat" pitchFamily="34" charset="-120"/>
              </a:rPr>
              <a:t>Python</a:t>
            </a:r>
            <a:endParaRPr lang="en-US" sz="2400" dirty="0"/>
          </a:p>
        </p:txBody>
      </p:sp>
      <p:sp>
        <p:nvSpPr>
          <p:cNvPr id="4" name="Text 2"/>
          <p:cNvSpPr/>
          <p:nvPr/>
        </p:nvSpPr>
        <p:spPr>
          <a:xfrm>
            <a:off x="864037" y="3631644"/>
            <a:ext cx="3898821" cy="1975247"/>
          </a:xfrm>
          <a:prstGeom prst="rect">
            <a:avLst/>
          </a:prstGeom>
          <a:noFill/>
          <a:ln/>
        </p:spPr>
        <p:txBody>
          <a:bodyPr wrap="square" lIns="0" tIns="0" rIns="0" bIns="0" rtlCol="0" anchor="t"/>
          <a:lstStyle/>
          <a:p>
            <a:pPr marL="0" indent="0">
              <a:lnSpc>
                <a:spcPts val="3100"/>
              </a:lnSpc>
              <a:buNone/>
            </a:pPr>
            <a:r>
              <a:rPr lang="en-US" sz="1900" dirty="0">
                <a:solidFill>
                  <a:srgbClr val="DCD7E5"/>
                </a:solidFill>
                <a:latin typeface="Heebo" pitchFamily="34" charset="0"/>
                <a:ea typeface="Heebo" pitchFamily="34" charset="-122"/>
                <a:cs typeface="Heebo" pitchFamily="34" charset="-120"/>
              </a:rPr>
              <a:t>Python serves as the primary programming language for RevivingPxls, providing flexibility and efficiency for image manipulation.</a:t>
            </a:r>
            <a:endParaRPr lang="en-US" sz="1900" dirty="0"/>
          </a:p>
        </p:txBody>
      </p:sp>
      <p:sp>
        <p:nvSpPr>
          <p:cNvPr id="5" name="Text 3"/>
          <p:cNvSpPr/>
          <p:nvPr/>
        </p:nvSpPr>
        <p:spPr>
          <a:xfrm>
            <a:off x="5372695" y="2999065"/>
            <a:ext cx="3086100" cy="385763"/>
          </a:xfrm>
          <a:prstGeom prst="rect">
            <a:avLst/>
          </a:prstGeom>
          <a:noFill/>
          <a:ln/>
        </p:spPr>
        <p:txBody>
          <a:bodyPr wrap="none" lIns="0" tIns="0" rIns="0" bIns="0" rtlCol="0" anchor="t"/>
          <a:lstStyle/>
          <a:p>
            <a:pPr marL="0" indent="0">
              <a:lnSpc>
                <a:spcPts val="3000"/>
              </a:lnSpc>
              <a:buNone/>
            </a:pPr>
            <a:r>
              <a:rPr lang="en-US" sz="2400" dirty="0">
                <a:solidFill>
                  <a:srgbClr val="F2F0F4"/>
                </a:solidFill>
                <a:latin typeface="Montserrat" pitchFamily="34" charset="0"/>
                <a:ea typeface="Montserrat" pitchFamily="34" charset="-122"/>
                <a:cs typeface="Montserrat" pitchFamily="34" charset="-120"/>
              </a:rPr>
              <a:t>HTML, CSS, &amp; Flask</a:t>
            </a:r>
            <a:endParaRPr lang="en-US" sz="2400" dirty="0"/>
          </a:p>
        </p:txBody>
      </p:sp>
      <p:sp>
        <p:nvSpPr>
          <p:cNvPr id="6" name="Text 4"/>
          <p:cNvSpPr/>
          <p:nvPr/>
        </p:nvSpPr>
        <p:spPr>
          <a:xfrm>
            <a:off x="5372695" y="3631644"/>
            <a:ext cx="3898821" cy="1975247"/>
          </a:xfrm>
          <a:prstGeom prst="rect">
            <a:avLst/>
          </a:prstGeom>
          <a:noFill/>
          <a:ln/>
        </p:spPr>
        <p:txBody>
          <a:bodyPr wrap="square" lIns="0" tIns="0" rIns="0" bIns="0" rtlCol="0" anchor="t"/>
          <a:lstStyle/>
          <a:p>
            <a:pPr marL="0" indent="0">
              <a:lnSpc>
                <a:spcPts val="3100"/>
              </a:lnSpc>
              <a:buNone/>
            </a:pPr>
            <a:r>
              <a:rPr lang="en-US" sz="1900" dirty="0">
                <a:solidFill>
                  <a:srgbClr val="DCD7E5"/>
                </a:solidFill>
                <a:latin typeface="Heebo" pitchFamily="34" charset="0"/>
                <a:ea typeface="Heebo" pitchFamily="34" charset="-122"/>
                <a:cs typeface="Heebo" pitchFamily="34" charset="-120"/>
              </a:rPr>
              <a:t>HTML, CSS, and Flask are utilized to create the user interface and web framework for RevivingPxls, offering a seamless experience for users.</a:t>
            </a:r>
            <a:endParaRPr lang="en-US" sz="1900" dirty="0"/>
          </a:p>
        </p:txBody>
      </p:sp>
      <p:sp>
        <p:nvSpPr>
          <p:cNvPr id="7" name="Text 5"/>
          <p:cNvSpPr/>
          <p:nvPr/>
        </p:nvSpPr>
        <p:spPr>
          <a:xfrm>
            <a:off x="9881354" y="2999065"/>
            <a:ext cx="3297198" cy="385763"/>
          </a:xfrm>
          <a:prstGeom prst="rect">
            <a:avLst/>
          </a:prstGeom>
          <a:noFill/>
          <a:ln/>
        </p:spPr>
        <p:txBody>
          <a:bodyPr wrap="none" lIns="0" tIns="0" rIns="0" bIns="0" rtlCol="0" anchor="t"/>
          <a:lstStyle/>
          <a:p>
            <a:pPr marL="0" indent="0">
              <a:lnSpc>
                <a:spcPts val="3000"/>
              </a:lnSpc>
              <a:buNone/>
            </a:pPr>
            <a:r>
              <a:rPr lang="en-US" sz="2400" dirty="0">
                <a:solidFill>
                  <a:srgbClr val="F2F0F4"/>
                </a:solidFill>
                <a:latin typeface="Montserrat" pitchFamily="34" charset="0"/>
                <a:ea typeface="Montserrat" pitchFamily="34" charset="-122"/>
                <a:cs typeface="Montserrat" pitchFamily="34" charset="-120"/>
              </a:rPr>
              <a:t>NumPy &amp; TensorFlow</a:t>
            </a:r>
            <a:endParaRPr lang="en-US" sz="2400" dirty="0"/>
          </a:p>
        </p:txBody>
      </p:sp>
      <p:sp>
        <p:nvSpPr>
          <p:cNvPr id="8" name="Text 6"/>
          <p:cNvSpPr/>
          <p:nvPr/>
        </p:nvSpPr>
        <p:spPr>
          <a:xfrm>
            <a:off x="9881354" y="3631644"/>
            <a:ext cx="3898821" cy="2765346"/>
          </a:xfrm>
          <a:prstGeom prst="rect">
            <a:avLst/>
          </a:prstGeom>
          <a:noFill/>
          <a:ln/>
        </p:spPr>
        <p:txBody>
          <a:bodyPr wrap="square" lIns="0" tIns="0" rIns="0" bIns="0" rtlCol="0" anchor="t"/>
          <a:lstStyle/>
          <a:p>
            <a:pPr marL="0" indent="0">
              <a:lnSpc>
                <a:spcPts val="3100"/>
              </a:lnSpc>
              <a:buNone/>
            </a:pPr>
            <a:r>
              <a:rPr lang="en-US" sz="1900" dirty="0">
                <a:solidFill>
                  <a:srgbClr val="DCD7E5"/>
                </a:solidFill>
                <a:latin typeface="Heebo" pitchFamily="34" charset="0"/>
                <a:ea typeface="Heebo" pitchFamily="34" charset="-122"/>
                <a:cs typeface="Heebo" pitchFamily="34" charset="-120"/>
              </a:rPr>
              <a:t>NumPy is a powerful numerical computing library that enables efficient array operations for image processing, while TensorFlow provides the core machine learning infrastructure for RevivingPxls' colorization capabilities.</a:t>
            </a:r>
            <a:endParaRPr lang="en-US" sz="1900" dirty="0"/>
          </a:p>
        </p:txBody>
      </p:sp>
      <p:sp>
        <p:nvSpPr>
          <p:cNvPr id="9" name="Rounded Rectangle 8"/>
          <p:cNvSpPr/>
          <p:nvPr/>
        </p:nvSpPr>
        <p:spPr>
          <a:xfrm>
            <a:off x="12030075" y="7591425"/>
            <a:ext cx="2476500" cy="514350"/>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err="1" smtClean="0">
                <a:solidFill>
                  <a:schemeClr val="bg1"/>
                </a:solidFill>
                <a:latin typeface="Britannic Bold" pitchFamily="34" charset="0"/>
                <a:ea typeface="Montserrat" pitchFamily="34" charset="-122"/>
                <a:cs typeface="Montserrat" pitchFamily="34" charset="-120"/>
              </a:rPr>
              <a:t>RevivingPxls</a:t>
            </a:r>
            <a:endParaRPr lang="en-IN" b="1" dirty="0">
              <a:solidFill>
                <a:schemeClr val="bg1"/>
              </a:solidFill>
              <a:latin typeface="Britannic Bold"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4037" y="835819"/>
            <a:ext cx="7800499" cy="771525"/>
          </a:xfrm>
          <a:prstGeom prst="rect">
            <a:avLst/>
          </a:prstGeom>
          <a:noFill/>
          <a:ln/>
        </p:spPr>
        <p:txBody>
          <a:bodyPr wrap="none" lIns="0" tIns="0" rIns="0" bIns="0" rtlCol="0" anchor="t"/>
          <a:lstStyle/>
          <a:p>
            <a:pPr marL="0" indent="0">
              <a:lnSpc>
                <a:spcPts val="6050"/>
              </a:lnSpc>
              <a:buNone/>
            </a:pPr>
            <a:r>
              <a:rPr lang="en-US" sz="4850" dirty="0">
                <a:solidFill>
                  <a:srgbClr val="F2F0F4"/>
                </a:solidFill>
                <a:latin typeface="Montserrat" pitchFamily="34" charset="0"/>
                <a:ea typeface="Montserrat" pitchFamily="34" charset="-122"/>
                <a:cs typeface="Montserrat" pitchFamily="34" charset="-120"/>
              </a:rPr>
              <a:t>Features and Capabilities</a:t>
            </a:r>
            <a:endParaRPr lang="en-US" sz="4850" dirty="0"/>
          </a:p>
        </p:txBody>
      </p:sp>
      <p:sp>
        <p:nvSpPr>
          <p:cNvPr id="3" name="Shape 1"/>
          <p:cNvSpPr/>
          <p:nvPr/>
        </p:nvSpPr>
        <p:spPr>
          <a:xfrm>
            <a:off x="864037" y="2255282"/>
            <a:ext cx="555427" cy="555427"/>
          </a:xfrm>
          <a:prstGeom prst="roundRect">
            <a:avLst>
              <a:gd name="adj" fmla="val 18669"/>
            </a:avLst>
          </a:prstGeom>
          <a:solidFill>
            <a:srgbClr val="31136C"/>
          </a:solidFill>
          <a:ln w="15240">
            <a:solidFill>
              <a:srgbClr val="4A2C85"/>
            </a:solidFill>
            <a:prstDash val="solid"/>
          </a:ln>
        </p:spPr>
      </p:sp>
      <p:sp>
        <p:nvSpPr>
          <p:cNvPr id="4" name="Text 2"/>
          <p:cNvSpPr/>
          <p:nvPr/>
        </p:nvSpPr>
        <p:spPr>
          <a:xfrm>
            <a:off x="1074896" y="2347793"/>
            <a:ext cx="133707" cy="370284"/>
          </a:xfrm>
          <a:prstGeom prst="rect">
            <a:avLst/>
          </a:prstGeom>
          <a:noFill/>
          <a:ln/>
        </p:spPr>
        <p:txBody>
          <a:bodyPr wrap="none" lIns="0" tIns="0" rIns="0" bIns="0" rtlCol="0" anchor="t"/>
          <a:lstStyle/>
          <a:p>
            <a:pPr marL="0" indent="0" algn="ctr">
              <a:lnSpc>
                <a:spcPts val="2900"/>
              </a:lnSpc>
              <a:buNone/>
            </a:pPr>
            <a:r>
              <a:rPr lang="en-US" sz="2900" dirty="0">
                <a:solidFill>
                  <a:srgbClr val="DCD7E5"/>
                </a:solidFill>
                <a:latin typeface="Montserrat" pitchFamily="34" charset="0"/>
                <a:ea typeface="Montserrat" pitchFamily="34" charset="-122"/>
                <a:cs typeface="Montserrat" pitchFamily="34" charset="-120"/>
              </a:rPr>
              <a:t>1</a:t>
            </a:r>
            <a:endParaRPr lang="en-US" sz="2900" dirty="0"/>
          </a:p>
        </p:txBody>
      </p:sp>
      <p:sp>
        <p:nvSpPr>
          <p:cNvPr id="5" name="Text 3"/>
          <p:cNvSpPr/>
          <p:nvPr/>
        </p:nvSpPr>
        <p:spPr>
          <a:xfrm>
            <a:off x="1666280" y="2255282"/>
            <a:ext cx="3333988" cy="771525"/>
          </a:xfrm>
          <a:prstGeom prst="rect">
            <a:avLst/>
          </a:prstGeom>
          <a:noFill/>
          <a:ln/>
        </p:spPr>
        <p:txBody>
          <a:bodyPr wrap="square" lIns="0" tIns="0" rIns="0" bIns="0" rtlCol="0" anchor="t"/>
          <a:lstStyle/>
          <a:p>
            <a:pPr marL="0" indent="0">
              <a:lnSpc>
                <a:spcPts val="3000"/>
              </a:lnSpc>
              <a:buNone/>
            </a:pPr>
            <a:r>
              <a:rPr lang="en-US" sz="2400" dirty="0">
                <a:solidFill>
                  <a:srgbClr val="DCD7E5"/>
                </a:solidFill>
                <a:latin typeface="Montserrat" pitchFamily="34" charset="0"/>
                <a:ea typeface="Montserrat" pitchFamily="34" charset="-122"/>
                <a:cs typeface="Montserrat" pitchFamily="34" charset="-120"/>
              </a:rPr>
              <a:t>High-Speed Processing</a:t>
            </a:r>
            <a:endParaRPr lang="en-US" sz="2400" dirty="0"/>
          </a:p>
        </p:txBody>
      </p:sp>
      <p:sp>
        <p:nvSpPr>
          <p:cNvPr id="6" name="Text 4"/>
          <p:cNvSpPr/>
          <p:nvPr/>
        </p:nvSpPr>
        <p:spPr>
          <a:xfrm>
            <a:off x="1666280" y="3174921"/>
            <a:ext cx="3333988" cy="2370296"/>
          </a:xfrm>
          <a:prstGeom prst="rect">
            <a:avLst/>
          </a:prstGeom>
          <a:noFill/>
          <a:ln/>
        </p:spPr>
        <p:txBody>
          <a:bodyPr wrap="square" lIns="0" tIns="0" rIns="0" bIns="0" rtlCol="0" anchor="t"/>
          <a:lstStyle/>
          <a:p>
            <a:pPr marL="0" indent="0">
              <a:lnSpc>
                <a:spcPts val="3100"/>
              </a:lnSpc>
              <a:buNone/>
            </a:pPr>
            <a:r>
              <a:rPr lang="en-US" sz="1900" dirty="0">
                <a:solidFill>
                  <a:srgbClr val="DCD7E5"/>
                </a:solidFill>
                <a:latin typeface="Heebo" pitchFamily="34" charset="0"/>
                <a:ea typeface="Heebo" pitchFamily="34" charset="-122"/>
                <a:cs typeface="Heebo" pitchFamily="34" charset="-120"/>
              </a:rPr>
              <a:t>RevivingPxls processes images quickly, transforming black-and-white photos into colorful ones in a matter of seconds, making it efficient for large datasets.</a:t>
            </a:r>
            <a:endParaRPr lang="en-US" sz="1900" dirty="0"/>
          </a:p>
        </p:txBody>
      </p:sp>
      <p:sp>
        <p:nvSpPr>
          <p:cNvPr id="7" name="Shape 5"/>
          <p:cNvSpPr/>
          <p:nvPr/>
        </p:nvSpPr>
        <p:spPr>
          <a:xfrm>
            <a:off x="5247084" y="2255282"/>
            <a:ext cx="555427" cy="555427"/>
          </a:xfrm>
          <a:prstGeom prst="roundRect">
            <a:avLst>
              <a:gd name="adj" fmla="val 18669"/>
            </a:avLst>
          </a:prstGeom>
          <a:solidFill>
            <a:srgbClr val="31136C"/>
          </a:solidFill>
          <a:ln w="15240">
            <a:solidFill>
              <a:srgbClr val="4A2C85"/>
            </a:solidFill>
            <a:prstDash val="solid"/>
          </a:ln>
        </p:spPr>
      </p:sp>
      <p:sp>
        <p:nvSpPr>
          <p:cNvPr id="8" name="Text 6"/>
          <p:cNvSpPr/>
          <p:nvPr/>
        </p:nvSpPr>
        <p:spPr>
          <a:xfrm>
            <a:off x="5419606" y="2347793"/>
            <a:ext cx="210383" cy="370284"/>
          </a:xfrm>
          <a:prstGeom prst="rect">
            <a:avLst/>
          </a:prstGeom>
          <a:noFill/>
          <a:ln/>
        </p:spPr>
        <p:txBody>
          <a:bodyPr wrap="none" lIns="0" tIns="0" rIns="0" bIns="0" rtlCol="0" anchor="t"/>
          <a:lstStyle/>
          <a:p>
            <a:pPr marL="0" indent="0" algn="ctr">
              <a:lnSpc>
                <a:spcPts val="2900"/>
              </a:lnSpc>
              <a:buNone/>
            </a:pPr>
            <a:r>
              <a:rPr lang="en-US" sz="2900" dirty="0">
                <a:solidFill>
                  <a:srgbClr val="DCD7E5"/>
                </a:solidFill>
                <a:latin typeface="Montserrat" pitchFamily="34" charset="0"/>
                <a:ea typeface="Montserrat" pitchFamily="34" charset="-122"/>
                <a:cs typeface="Montserrat" pitchFamily="34" charset="-120"/>
              </a:rPr>
              <a:t>2</a:t>
            </a:r>
            <a:endParaRPr lang="en-US" sz="2900" dirty="0"/>
          </a:p>
        </p:txBody>
      </p:sp>
      <p:sp>
        <p:nvSpPr>
          <p:cNvPr id="9" name="Text 7"/>
          <p:cNvSpPr/>
          <p:nvPr/>
        </p:nvSpPr>
        <p:spPr>
          <a:xfrm>
            <a:off x="6049328" y="2255282"/>
            <a:ext cx="3086100" cy="385763"/>
          </a:xfrm>
          <a:prstGeom prst="rect">
            <a:avLst/>
          </a:prstGeom>
          <a:noFill/>
          <a:ln/>
        </p:spPr>
        <p:txBody>
          <a:bodyPr wrap="none" lIns="0" tIns="0" rIns="0" bIns="0" rtlCol="0" anchor="t"/>
          <a:lstStyle/>
          <a:p>
            <a:pPr marL="0" indent="0">
              <a:lnSpc>
                <a:spcPts val="3000"/>
              </a:lnSpc>
              <a:buNone/>
            </a:pPr>
            <a:r>
              <a:rPr lang="en-US" sz="2400" dirty="0">
                <a:solidFill>
                  <a:srgbClr val="DCD7E5"/>
                </a:solidFill>
                <a:latin typeface="Montserrat" pitchFamily="34" charset="0"/>
                <a:ea typeface="Montserrat" pitchFamily="34" charset="-122"/>
                <a:cs typeface="Montserrat" pitchFamily="34" charset="-120"/>
              </a:rPr>
              <a:t>Resolution Support</a:t>
            </a:r>
            <a:endParaRPr lang="en-US" sz="2400" dirty="0"/>
          </a:p>
        </p:txBody>
      </p:sp>
      <p:sp>
        <p:nvSpPr>
          <p:cNvPr id="10" name="Text 8"/>
          <p:cNvSpPr/>
          <p:nvPr/>
        </p:nvSpPr>
        <p:spPr>
          <a:xfrm>
            <a:off x="6049328" y="2789158"/>
            <a:ext cx="3333988" cy="2370296"/>
          </a:xfrm>
          <a:prstGeom prst="rect">
            <a:avLst/>
          </a:prstGeom>
          <a:noFill/>
          <a:ln/>
        </p:spPr>
        <p:txBody>
          <a:bodyPr wrap="square" lIns="0" tIns="0" rIns="0" bIns="0" rtlCol="0" anchor="t"/>
          <a:lstStyle/>
          <a:p>
            <a:pPr marL="0" indent="0">
              <a:lnSpc>
                <a:spcPts val="3100"/>
              </a:lnSpc>
              <a:buNone/>
            </a:pPr>
            <a:r>
              <a:rPr lang="en-US" sz="1900" dirty="0">
                <a:solidFill>
                  <a:srgbClr val="DCD7E5"/>
                </a:solidFill>
                <a:latin typeface="Heebo" pitchFamily="34" charset="0"/>
                <a:ea typeface="Heebo" pitchFamily="34" charset="-122"/>
                <a:cs typeface="Heebo" pitchFamily="34" charset="-120"/>
              </a:rPr>
              <a:t>RevivingPxls supports various image resolutions, from low-resolution snapshots to high-resolution historical photographs, allowing for versatility in applications.</a:t>
            </a:r>
            <a:endParaRPr lang="en-US" sz="1900" dirty="0"/>
          </a:p>
        </p:txBody>
      </p:sp>
      <p:sp>
        <p:nvSpPr>
          <p:cNvPr id="11" name="Shape 9"/>
          <p:cNvSpPr/>
          <p:nvPr/>
        </p:nvSpPr>
        <p:spPr>
          <a:xfrm>
            <a:off x="9630132" y="2255282"/>
            <a:ext cx="555427" cy="555427"/>
          </a:xfrm>
          <a:prstGeom prst="roundRect">
            <a:avLst>
              <a:gd name="adj" fmla="val 18669"/>
            </a:avLst>
          </a:prstGeom>
          <a:solidFill>
            <a:srgbClr val="31136C"/>
          </a:solidFill>
          <a:ln w="15240">
            <a:solidFill>
              <a:srgbClr val="4A2C85"/>
            </a:solidFill>
            <a:prstDash val="solid"/>
          </a:ln>
        </p:spPr>
      </p:sp>
      <p:sp>
        <p:nvSpPr>
          <p:cNvPr id="12" name="Text 10"/>
          <p:cNvSpPr/>
          <p:nvPr/>
        </p:nvSpPr>
        <p:spPr>
          <a:xfrm>
            <a:off x="9803368" y="2347793"/>
            <a:ext cx="208955" cy="370284"/>
          </a:xfrm>
          <a:prstGeom prst="rect">
            <a:avLst/>
          </a:prstGeom>
          <a:noFill/>
          <a:ln/>
        </p:spPr>
        <p:txBody>
          <a:bodyPr wrap="none" lIns="0" tIns="0" rIns="0" bIns="0" rtlCol="0" anchor="t"/>
          <a:lstStyle/>
          <a:p>
            <a:pPr marL="0" indent="0" algn="ctr">
              <a:lnSpc>
                <a:spcPts val="2900"/>
              </a:lnSpc>
              <a:buNone/>
            </a:pPr>
            <a:r>
              <a:rPr lang="en-US" sz="2900" dirty="0">
                <a:solidFill>
                  <a:srgbClr val="DCD7E5"/>
                </a:solidFill>
                <a:latin typeface="Montserrat" pitchFamily="34" charset="0"/>
                <a:ea typeface="Montserrat" pitchFamily="34" charset="-122"/>
                <a:cs typeface="Montserrat" pitchFamily="34" charset="-120"/>
              </a:rPr>
              <a:t>3</a:t>
            </a:r>
            <a:endParaRPr lang="en-US" sz="2900" dirty="0"/>
          </a:p>
        </p:txBody>
      </p:sp>
      <p:sp>
        <p:nvSpPr>
          <p:cNvPr id="13" name="Text 11"/>
          <p:cNvSpPr/>
          <p:nvPr/>
        </p:nvSpPr>
        <p:spPr>
          <a:xfrm>
            <a:off x="10432375" y="2255282"/>
            <a:ext cx="3333988" cy="771525"/>
          </a:xfrm>
          <a:prstGeom prst="rect">
            <a:avLst/>
          </a:prstGeom>
          <a:noFill/>
          <a:ln/>
        </p:spPr>
        <p:txBody>
          <a:bodyPr wrap="square" lIns="0" tIns="0" rIns="0" bIns="0" rtlCol="0" anchor="t"/>
          <a:lstStyle/>
          <a:p>
            <a:pPr marL="0" indent="0">
              <a:lnSpc>
                <a:spcPts val="3000"/>
              </a:lnSpc>
              <a:buNone/>
            </a:pPr>
            <a:r>
              <a:rPr lang="en-US" sz="2400" dirty="0">
                <a:solidFill>
                  <a:srgbClr val="DCD7E5"/>
                </a:solidFill>
                <a:latin typeface="Montserrat" pitchFamily="34" charset="0"/>
                <a:ea typeface="Montserrat" pitchFamily="34" charset="-122"/>
                <a:cs typeface="Montserrat" pitchFamily="34" charset="-120"/>
              </a:rPr>
              <a:t>Batch Image Colorization</a:t>
            </a:r>
            <a:endParaRPr lang="en-US" sz="2400" dirty="0"/>
          </a:p>
        </p:txBody>
      </p:sp>
      <p:sp>
        <p:nvSpPr>
          <p:cNvPr id="14" name="Text 12"/>
          <p:cNvSpPr/>
          <p:nvPr/>
        </p:nvSpPr>
        <p:spPr>
          <a:xfrm>
            <a:off x="10432375" y="3174921"/>
            <a:ext cx="3333988" cy="2370296"/>
          </a:xfrm>
          <a:prstGeom prst="rect">
            <a:avLst/>
          </a:prstGeom>
          <a:noFill/>
          <a:ln/>
        </p:spPr>
        <p:txBody>
          <a:bodyPr wrap="square" lIns="0" tIns="0" rIns="0" bIns="0" rtlCol="0" anchor="t"/>
          <a:lstStyle/>
          <a:p>
            <a:pPr marL="0" indent="0">
              <a:lnSpc>
                <a:spcPts val="3100"/>
              </a:lnSpc>
              <a:buNone/>
            </a:pPr>
            <a:r>
              <a:rPr lang="en-US" sz="1900" dirty="0">
                <a:solidFill>
                  <a:srgbClr val="DCD7E5"/>
                </a:solidFill>
                <a:latin typeface="Heebo" pitchFamily="34" charset="0"/>
                <a:ea typeface="Heebo" pitchFamily="34" charset="-122"/>
                <a:cs typeface="Heebo" pitchFamily="34" charset="-120"/>
              </a:rPr>
              <a:t>RevivingPxls enables batch processing, allowing you to colorize multiple images simultaneously, saving time and effort for projects involving numerous photos.</a:t>
            </a:r>
            <a:endParaRPr lang="en-US" sz="1900" dirty="0"/>
          </a:p>
        </p:txBody>
      </p:sp>
      <p:sp>
        <p:nvSpPr>
          <p:cNvPr id="15" name="Shape 13"/>
          <p:cNvSpPr/>
          <p:nvPr/>
        </p:nvSpPr>
        <p:spPr>
          <a:xfrm>
            <a:off x="864037" y="6069687"/>
            <a:ext cx="555427" cy="555427"/>
          </a:xfrm>
          <a:prstGeom prst="roundRect">
            <a:avLst>
              <a:gd name="adj" fmla="val 18669"/>
            </a:avLst>
          </a:prstGeom>
          <a:solidFill>
            <a:srgbClr val="31136C"/>
          </a:solidFill>
          <a:ln w="15240">
            <a:solidFill>
              <a:srgbClr val="4A2C85"/>
            </a:solidFill>
            <a:prstDash val="solid"/>
          </a:ln>
        </p:spPr>
      </p:sp>
      <p:sp>
        <p:nvSpPr>
          <p:cNvPr id="16" name="Text 14"/>
          <p:cNvSpPr/>
          <p:nvPr/>
        </p:nvSpPr>
        <p:spPr>
          <a:xfrm>
            <a:off x="1019294" y="6162199"/>
            <a:ext cx="244793" cy="370284"/>
          </a:xfrm>
          <a:prstGeom prst="rect">
            <a:avLst/>
          </a:prstGeom>
          <a:noFill/>
          <a:ln/>
        </p:spPr>
        <p:txBody>
          <a:bodyPr wrap="none" lIns="0" tIns="0" rIns="0" bIns="0" rtlCol="0" anchor="t"/>
          <a:lstStyle/>
          <a:p>
            <a:pPr marL="0" indent="0" algn="ctr">
              <a:lnSpc>
                <a:spcPts val="2900"/>
              </a:lnSpc>
              <a:buNone/>
            </a:pPr>
            <a:r>
              <a:rPr lang="en-US" sz="2900" dirty="0">
                <a:solidFill>
                  <a:srgbClr val="DCD7E5"/>
                </a:solidFill>
                <a:latin typeface="Montserrat" pitchFamily="34" charset="0"/>
                <a:ea typeface="Montserrat" pitchFamily="34" charset="-122"/>
                <a:cs typeface="Montserrat" pitchFamily="34" charset="-120"/>
              </a:rPr>
              <a:t>4</a:t>
            </a:r>
            <a:endParaRPr lang="en-US" sz="2900" dirty="0"/>
          </a:p>
        </p:txBody>
      </p:sp>
      <p:sp>
        <p:nvSpPr>
          <p:cNvPr id="17" name="Text 15"/>
          <p:cNvSpPr/>
          <p:nvPr/>
        </p:nvSpPr>
        <p:spPr>
          <a:xfrm>
            <a:off x="1666280" y="6069687"/>
            <a:ext cx="3674626" cy="385763"/>
          </a:xfrm>
          <a:prstGeom prst="rect">
            <a:avLst/>
          </a:prstGeom>
          <a:noFill/>
          <a:ln/>
        </p:spPr>
        <p:txBody>
          <a:bodyPr wrap="none" lIns="0" tIns="0" rIns="0" bIns="0" rtlCol="0" anchor="t"/>
          <a:lstStyle/>
          <a:p>
            <a:pPr marL="0" indent="0">
              <a:lnSpc>
                <a:spcPts val="3000"/>
              </a:lnSpc>
              <a:buNone/>
            </a:pPr>
            <a:r>
              <a:rPr lang="en-US" sz="2400" dirty="0">
                <a:solidFill>
                  <a:srgbClr val="DCD7E5"/>
                </a:solidFill>
                <a:latin typeface="Montserrat" pitchFamily="34" charset="0"/>
                <a:ea typeface="Montserrat" pitchFamily="34" charset="-122"/>
                <a:cs typeface="Montserrat" pitchFamily="34" charset="-120"/>
              </a:rPr>
              <a:t>User-Friendly Interfaces</a:t>
            </a:r>
            <a:endParaRPr lang="en-US" sz="2400" dirty="0"/>
          </a:p>
        </p:txBody>
      </p:sp>
      <p:sp>
        <p:nvSpPr>
          <p:cNvPr id="18" name="Text 16"/>
          <p:cNvSpPr/>
          <p:nvPr/>
        </p:nvSpPr>
        <p:spPr>
          <a:xfrm>
            <a:off x="1666280" y="6603563"/>
            <a:ext cx="12100084" cy="790099"/>
          </a:xfrm>
          <a:prstGeom prst="rect">
            <a:avLst/>
          </a:prstGeom>
          <a:noFill/>
          <a:ln/>
        </p:spPr>
        <p:txBody>
          <a:bodyPr wrap="square" lIns="0" tIns="0" rIns="0" bIns="0" rtlCol="0" anchor="t"/>
          <a:lstStyle/>
          <a:p>
            <a:pPr marL="0" indent="0">
              <a:lnSpc>
                <a:spcPts val="3100"/>
              </a:lnSpc>
              <a:buNone/>
            </a:pPr>
            <a:r>
              <a:rPr lang="en-US" sz="1900" dirty="0">
                <a:solidFill>
                  <a:srgbClr val="DCD7E5"/>
                </a:solidFill>
                <a:latin typeface="Heebo" pitchFamily="34" charset="0"/>
                <a:ea typeface="Heebo" pitchFamily="34" charset="-122"/>
                <a:cs typeface="Heebo" pitchFamily="34" charset="-120"/>
              </a:rPr>
              <a:t>RevivingPxls offers intuitive interfaces, making it easy for users of all skill levels to upload images, choose colorization options, and download the final results.</a:t>
            </a:r>
            <a:endParaRPr lang="en-US" sz="1900" dirty="0"/>
          </a:p>
        </p:txBody>
      </p:sp>
      <p:sp>
        <p:nvSpPr>
          <p:cNvPr id="19" name="Rounded Rectangle 18"/>
          <p:cNvSpPr/>
          <p:nvPr/>
        </p:nvSpPr>
        <p:spPr>
          <a:xfrm>
            <a:off x="12099369" y="7629525"/>
            <a:ext cx="2476500" cy="514350"/>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err="1" smtClean="0">
                <a:solidFill>
                  <a:schemeClr val="bg1"/>
                </a:solidFill>
                <a:latin typeface="Britannic Bold" pitchFamily="34" charset="0"/>
                <a:ea typeface="Montserrat" pitchFamily="34" charset="-122"/>
                <a:cs typeface="Montserrat" pitchFamily="34" charset="-120"/>
              </a:rPr>
              <a:t>RevivingPxls</a:t>
            </a:r>
            <a:endParaRPr lang="en-IN" b="1" dirty="0">
              <a:solidFill>
                <a:schemeClr val="bg1"/>
              </a:solidFill>
              <a:latin typeface="Britannic Bold"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791527"/>
            <a:ext cx="7415927" cy="1543050"/>
          </a:xfrm>
          <a:prstGeom prst="rect">
            <a:avLst/>
          </a:prstGeom>
          <a:noFill/>
          <a:ln/>
        </p:spPr>
        <p:txBody>
          <a:bodyPr wrap="square" lIns="0" tIns="0" rIns="0" bIns="0" rtlCol="0" anchor="t"/>
          <a:lstStyle/>
          <a:p>
            <a:pPr marL="0" indent="0">
              <a:lnSpc>
                <a:spcPts val="6050"/>
              </a:lnSpc>
              <a:buNone/>
            </a:pPr>
            <a:r>
              <a:rPr lang="en-US" sz="4850" dirty="0">
                <a:solidFill>
                  <a:srgbClr val="F2F0F4"/>
                </a:solidFill>
                <a:latin typeface="Montserrat" pitchFamily="34" charset="0"/>
                <a:ea typeface="Montserrat" pitchFamily="34" charset="-122"/>
                <a:cs typeface="Montserrat" pitchFamily="34" charset="-120"/>
              </a:rPr>
              <a:t>Applications - Forensic Investigation</a:t>
            </a:r>
            <a:endParaRPr lang="en-US" sz="4850" dirty="0"/>
          </a:p>
        </p:txBody>
      </p:sp>
      <p:sp>
        <p:nvSpPr>
          <p:cNvPr id="4" name="Shape 1"/>
          <p:cNvSpPr/>
          <p:nvPr/>
        </p:nvSpPr>
        <p:spPr>
          <a:xfrm>
            <a:off x="864037" y="2704862"/>
            <a:ext cx="7415927" cy="2243138"/>
          </a:xfrm>
          <a:prstGeom prst="roundRect">
            <a:avLst>
              <a:gd name="adj" fmla="val 4623"/>
            </a:avLst>
          </a:prstGeom>
          <a:solidFill>
            <a:srgbClr val="31136C"/>
          </a:solidFill>
          <a:ln w="15240">
            <a:solidFill>
              <a:srgbClr val="4A2C85"/>
            </a:solidFill>
            <a:prstDash val="solid"/>
          </a:ln>
        </p:spPr>
      </p:sp>
      <p:sp>
        <p:nvSpPr>
          <p:cNvPr id="5" name="Text 2"/>
          <p:cNvSpPr/>
          <p:nvPr/>
        </p:nvSpPr>
        <p:spPr>
          <a:xfrm>
            <a:off x="1126093" y="2966918"/>
            <a:ext cx="3288625" cy="385763"/>
          </a:xfrm>
          <a:prstGeom prst="rect">
            <a:avLst/>
          </a:prstGeom>
          <a:noFill/>
          <a:ln/>
        </p:spPr>
        <p:txBody>
          <a:bodyPr wrap="none" lIns="0" tIns="0" rIns="0" bIns="0" rtlCol="0" anchor="t"/>
          <a:lstStyle/>
          <a:p>
            <a:pPr marL="0" indent="0">
              <a:lnSpc>
                <a:spcPts val="3000"/>
              </a:lnSpc>
              <a:buNone/>
            </a:pPr>
            <a:r>
              <a:rPr lang="en-US" sz="2400" dirty="0">
                <a:solidFill>
                  <a:srgbClr val="DCD7E5"/>
                </a:solidFill>
                <a:latin typeface="Montserrat" pitchFamily="34" charset="0"/>
                <a:ea typeface="Montserrat" pitchFamily="34" charset="-122"/>
                <a:cs typeface="Montserrat" pitchFamily="34" charset="-120"/>
              </a:rPr>
              <a:t>Crime Scene Analysis</a:t>
            </a:r>
            <a:endParaRPr lang="en-US" sz="2400" dirty="0"/>
          </a:p>
        </p:txBody>
      </p:sp>
      <p:sp>
        <p:nvSpPr>
          <p:cNvPr id="6" name="Text 3"/>
          <p:cNvSpPr/>
          <p:nvPr/>
        </p:nvSpPr>
        <p:spPr>
          <a:xfrm>
            <a:off x="1126093" y="3500795"/>
            <a:ext cx="6891814" cy="1185148"/>
          </a:xfrm>
          <a:prstGeom prst="rect">
            <a:avLst/>
          </a:prstGeom>
          <a:noFill/>
          <a:ln/>
        </p:spPr>
        <p:txBody>
          <a:bodyPr wrap="square" lIns="0" tIns="0" rIns="0" bIns="0" rtlCol="0" anchor="t"/>
          <a:lstStyle/>
          <a:p>
            <a:pPr marL="0" indent="0">
              <a:lnSpc>
                <a:spcPts val="3100"/>
              </a:lnSpc>
              <a:buNone/>
            </a:pPr>
            <a:r>
              <a:rPr lang="en-US" sz="1900" dirty="0">
                <a:solidFill>
                  <a:srgbClr val="DCD7E5"/>
                </a:solidFill>
                <a:latin typeface="Heebo" pitchFamily="34" charset="0"/>
                <a:ea typeface="Heebo" pitchFamily="34" charset="-122"/>
                <a:cs typeface="Heebo" pitchFamily="34" charset="-120"/>
              </a:rPr>
              <a:t>RevivingPxls can enhance black-and-white CCTV footage by adding color, making it easier for investigators to identify suspects, analyze crime scenes, and collect evidence.</a:t>
            </a:r>
            <a:endParaRPr lang="en-US" sz="1900" dirty="0"/>
          </a:p>
        </p:txBody>
      </p:sp>
      <p:sp>
        <p:nvSpPr>
          <p:cNvPr id="7" name="Shape 4"/>
          <p:cNvSpPr/>
          <p:nvPr/>
        </p:nvSpPr>
        <p:spPr>
          <a:xfrm>
            <a:off x="864037" y="5194816"/>
            <a:ext cx="7415927" cy="2243138"/>
          </a:xfrm>
          <a:prstGeom prst="roundRect">
            <a:avLst>
              <a:gd name="adj" fmla="val 4623"/>
            </a:avLst>
          </a:prstGeom>
          <a:solidFill>
            <a:srgbClr val="31136C"/>
          </a:solidFill>
          <a:ln w="15240">
            <a:solidFill>
              <a:srgbClr val="4A2C85"/>
            </a:solidFill>
            <a:prstDash val="solid"/>
          </a:ln>
        </p:spPr>
      </p:sp>
      <p:sp>
        <p:nvSpPr>
          <p:cNvPr id="8" name="Text 5"/>
          <p:cNvSpPr/>
          <p:nvPr/>
        </p:nvSpPr>
        <p:spPr>
          <a:xfrm>
            <a:off x="1126093" y="5456873"/>
            <a:ext cx="3384947" cy="385763"/>
          </a:xfrm>
          <a:prstGeom prst="rect">
            <a:avLst/>
          </a:prstGeom>
          <a:noFill/>
          <a:ln/>
        </p:spPr>
        <p:txBody>
          <a:bodyPr wrap="none" lIns="0" tIns="0" rIns="0" bIns="0" rtlCol="0" anchor="t"/>
          <a:lstStyle/>
          <a:p>
            <a:pPr marL="0" indent="0">
              <a:lnSpc>
                <a:spcPts val="3000"/>
              </a:lnSpc>
              <a:buNone/>
            </a:pPr>
            <a:r>
              <a:rPr lang="en-US" sz="2400" dirty="0">
                <a:solidFill>
                  <a:srgbClr val="DCD7E5"/>
                </a:solidFill>
                <a:latin typeface="Montserrat" pitchFamily="34" charset="0"/>
                <a:ea typeface="Montserrat" pitchFamily="34" charset="-122"/>
                <a:cs typeface="Montserrat" pitchFamily="34" charset="-120"/>
              </a:rPr>
              <a:t>Suspect Identification</a:t>
            </a:r>
            <a:endParaRPr lang="en-US" sz="2400" dirty="0"/>
          </a:p>
        </p:txBody>
      </p:sp>
      <p:sp>
        <p:nvSpPr>
          <p:cNvPr id="9" name="Text 6"/>
          <p:cNvSpPr/>
          <p:nvPr/>
        </p:nvSpPr>
        <p:spPr>
          <a:xfrm>
            <a:off x="1126093" y="5990749"/>
            <a:ext cx="6891814" cy="1185148"/>
          </a:xfrm>
          <a:prstGeom prst="rect">
            <a:avLst/>
          </a:prstGeom>
          <a:noFill/>
          <a:ln/>
        </p:spPr>
        <p:txBody>
          <a:bodyPr wrap="square" lIns="0" tIns="0" rIns="0" bIns="0" rtlCol="0" anchor="t"/>
          <a:lstStyle/>
          <a:p>
            <a:pPr marL="0" indent="0">
              <a:lnSpc>
                <a:spcPts val="3100"/>
              </a:lnSpc>
              <a:buNone/>
            </a:pPr>
            <a:r>
              <a:rPr lang="en-US" sz="1900" dirty="0">
                <a:solidFill>
                  <a:srgbClr val="DCD7E5"/>
                </a:solidFill>
                <a:latin typeface="Heebo" pitchFamily="34" charset="0"/>
                <a:ea typeface="Heebo" pitchFamily="34" charset="-122"/>
                <a:cs typeface="Heebo" pitchFamily="34" charset="-120"/>
              </a:rPr>
              <a:t>Colorized footage can reveal crucial details like clothing, facial features, and other characteristics that might be missed in grayscale, aiding in suspect identification.</a:t>
            </a:r>
            <a:endParaRPr lang="en-US" sz="1900" dirty="0"/>
          </a:p>
        </p:txBody>
      </p:sp>
      <p:sp>
        <p:nvSpPr>
          <p:cNvPr id="10" name="Rounded Rectangle 9"/>
          <p:cNvSpPr/>
          <p:nvPr/>
        </p:nvSpPr>
        <p:spPr>
          <a:xfrm>
            <a:off x="12030075" y="7562850"/>
            <a:ext cx="2476500" cy="514350"/>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err="1" smtClean="0">
                <a:solidFill>
                  <a:schemeClr val="bg1"/>
                </a:solidFill>
                <a:latin typeface="Britannic Bold" pitchFamily="34" charset="0"/>
                <a:ea typeface="Montserrat" pitchFamily="34" charset="-122"/>
                <a:cs typeface="Montserrat" pitchFamily="34" charset="-120"/>
              </a:rPr>
              <a:t>RevivingPxls</a:t>
            </a:r>
            <a:endParaRPr lang="en-IN" b="1" dirty="0">
              <a:solidFill>
                <a:schemeClr val="bg1"/>
              </a:solidFill>
              <a:latin typeface="Britannic Bold"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21611" y="578287"/>
            <a:ext cx="7673578" cy="1312783"/>
          </a:xfrm>
          <a:prstGeom prst="rect">
            <a:avLst/>
          </a:prstGeom>
          <a:noFill/>
          <a:ln/>
        </p:spPr>
        <p:txBody>
          <a:bodyPr wrap="square" lIns="0" tIns="0" rIns="0" bIns="0" rtlCol="0" anchor="t"/>
          <a:lstStyle/>
          <a:p>
            <a:pPr marL="0" indent="0">
              <a:lnSpc>
                <a:spcPts val="5150"/>
              </a:lnSpc>
              <a:buNone/>
            </a:pPr>
            <a:r>
              <a:rPr lang="en-US" sz="4100" dirty="0">
                <a:solidFill>
                  <a:srgbClr val="F2F0F4"/>
                </a:solidFill>
                <a:latin typeface="Montserrat" pitchFamily="34" charset="0"/>
                <a:ea typeface="Montserrat" pitchFamily="34" charset="-122"/>
                <a:cs typeface="Montserrat" pitchFamily="34" charset="-120"/>
              </a:rPr>
              <a:t>Applications - AI &amp; Machine Learning</a:t>
            </a:r>
            <a:endParaRPr lang="en-US" sz="4100" dirty="0"/>
          </a:p>
        </p:txBody>
      </p:sp>
      <p:pic>
        <p:nvPicPr>
          <p:cNvPr id="4" name="Image 1" descr="preencoded.png"/>
          <p:cNvPicPr>
            <a:picLocks noChangeAspect="1"/>
          </p:cNvPicPr>
          <p:nvPr/>
        </p:nvPicPr>
        <p:blipFill>
          <a:blip r:embed="rId4"/>
          <a:stretch>
            <a:fillRect/>
          </a:stretch>
        </p:blipFill>
        <p:spPr>
          <a:xfrm>
            <a:off x="6221611" y="2206109"/>
            <a:ext cx="1050369" cy="1680567"/>
          </a:xfrm>
          <a:prstGeom prst="rect">
            <a:avLst/>
          </a:prstGeom>
        </p:spPr>
      </p:pic>
      <p:sp>
        <p:nvSpPr>
          <p:cNvPr id="5" name="Text 1"/>
          <p:cNvSpPr/>
          <p:nvPr/>
        </p:nvSpPr>
        <p:spPr>
          <a:xfrm>
            <a:off x="7587020" y="2416135"/>
            <a:ext cx="2625923" cy="328255"/>
          </a:xfrm>
          <a:prstGeom prst="rect">
            <a:avLst/>
          </a:prstGeom>
          <a:noFill/>
          <a:ln/>
        </p:spPr>
        <p:txBody>
          <a:bodyPr wrap="none" lIns="0" tIns="0" rIns="0" bIns="0" rtlCol="0" anchor="t"/>
          <a:lstStyle/>
          <a:p>
            <a:pPr marL="0" indent="0" algn="l">
              <a:lnSpc>
                <a:spcPts val="2550"/>
              </a:lnSpc>
              <a:buNone/>
            </a:pPr>
            <a:r>
              <a:rPr lang="en-US" sz="2050" dirty="0">
                <a:solidFill>
                  <a:srgbClr val="DCD7E5"/>
                </a:solidFill>
                <a:latin typeface="Montserrat" pitchFamily="34" charset="0"/>
                <a:ea typeface="Montserrat" pitchFamily="34" charset="-122"/>
                <a:cs typeface="Montserrat" pitchFamily="34" charset="-120"/>
              </a:rPr>
              <a:t>Data Enrichment</a:t>
            </a:r>
            <a:endParaRPr lang="en-US" sz="2050" dirty="0"/>
          </a:p>
        </p:txBody>
      </p:sp>
      <p:sp>
        <p:nvSpPr>
          <p:cNvPr id="6" name="Text 2"/>
          <p:cNvSpPr/>
          <p:nvPr/>
        </p:nvSpPr>
        <p:spPr>
          <a:xfrm>
            <a:off x="7587020" y="2870359"/>
            <a:ext cx="6308169" cy="671989"/>
          </a:xfrm>
          <a:prstGeom prst="rect">
            <a:avLst/>
          </a:prstGeom>
          <a:noFill/>
          <a:ln/>
        </p:spPr>
        <p:txBody>
          <a:bodyPr wrap="square" lIns="0" tIns="0" rIns="0" bIns="0" rtlCol="0" anchor="t"/>
          <a:lstStyle/>
          <a:p>
            <a:pPr marL="0" indent="0" algn="l">
              <a:lnSpc>
                <a:spcPts val="2600"/>
              </a:lnSpc>
              <a:buNone/>
            </a:pPr>
            <a:r>
              <a:rPr lang="en-US" sz="1650" dirty="0">
                <a:solidFill>
                  <a:srgbClr val="DCD7E5"/>
                </a:solidFill>
                <a:latin typeface="Heebo" pitchFamily="34" charset="0"/>
                <a:ea typeface="Heebo" pitchFamily="34" charset="-122"/>
                <a:cs typeface="Heebo" pitchFamily="34" charset="-120"/>
              </a:rPr>
              <a:t>RevivingPxls can transform grayscale datasets into colored ones, providing richer and more detailed data for training AI models.</a:t>
            </a:r>
            <a:endParaRPr lang="en-US" sz="1650" dirty="0"/>
          </a:p>
        </p:txBody>
      </p:sp>
      <p:pic>
        <p:nvPicPr>
          <p:cNvPr id="7" name="Image 2" descr="preencoded.png"/>
          <p:cNvPicPr>
            <a:picLocks noChangeAspect="1"/>
          </p:cNvPicPr>
          <p:nvPr/>
        </p:nvPicPr>
        <p:blipFill>
          <a:blip r:embed="rId5"/>
          <a:stretch>
            <a:fillRect/>
          </a:stretch>
        </p:blipFill>
        <p:spPr>
          <a:xfrm>
            <a:off x="6221611" y="3886676"/>
            <a:ext cx="1050369" cy="1882259"/>
          </a:xfrm>
          <a:prstGeom prst="rect">
            <a:avLst/>
          </a:prstGeom>
        </p:spPr>
      </p:pic>
      <p:sp>
        <p:nvSpPr>
          <p:cNvPr id="8" name="Text 3"/>
          <p:cNvSpPr/>
          <p:nvPr/>
        </p:nvSpPr>
        <p:spPr>
          <a:xfrm>
            <a:off x="7587020" y="4096703"/>
            <a:ext cx="2625923" cy="328255"/>
          </a:xfrm>
          <a:prstGeom prst="rect">
            <a:avLst/>
          </a:prstGeom>
          <a:noFill/>
          <a:ln/>
        </p:spPr>
        <p:txBody>
          <a:bodyPr wrap="none" lIns="0" tIns="0" rIns="0" bIns="0" rtlCol="0" anchor="t"/>
          <a:lstStyle/>
          <a:p>
            <a:pPr marL="0" indent="0" algn="l">
              <a:lnSpc>
                <a:spcPts val="2550"/>
              </a:lnSpc>
              <a:buNone/>
            </a:pPr>
            <a:r>
              <a:rPr lang="en-US" sz="2050" dirty="0">
                <a:solidFill>
                  <a:srgbClr val="DCD7E5"/>
                </a:solidFill>
                <a:latin typeface="Montserrat" pitchFamily="34" charset="0"/>
                <a:ea typeface="Montserrat" pitchFamily="34" charset="-122"/>
                <a:cs typeface="Montserrat" pitchFamily="34" charset="-120"/>
              </a:rPr>
              <a:t>Model Accuracy</a:t>
            </a:r>
            <a:endParaRPr lang="en-US" sz="2050" dirty="0"/>
          </a:p>
        </p:txBody>
      </p:sp>
      <p:sp>
        <p:nvSpPr>
          <p:cNvPr id="9" name="Text 4"/>
          <p:cNvSpPr/>
          <p:nvPr/>
        </p:nvSpPr>
        <p:spPr>
          <a:xfrm>
            <a:off x="7587020" y="4550926"/>
            <a:ext cx="6308169" cy="1007983"/>
          </a:xfrm>
          <a:prstGeom prst="rect">
            <a:avLst/>
          </a:prstGeom>
          <a:noFill/>
          <a:ln/>
        </p:spPr>
        <p:txBody>
          <a:bodyPr wrap="square" lIns="0" tIns="0" rIns="0" bIns="0" rtlCol="0" anchor="t"/>
          <a:lstStyle/>
          <a:p>
            <a:pPr marL="0" indent="0" algn="l">
              <a:lnSpc>
                <a:spcPts val="2600"/>
              </a:lnSpc>
              <a:buNone/>
            </a:pPr>
            <a:r>
              <a:rPr lang="en-US" sz="1650" dirty="0">
                <a:solidFill>
                  <a:srgbClr val="DCD7E5"/>
                </a:solidFill>
                <a:latin typeface="Heebo" pitchFamily="34" charset="0"/>
                <a:ea typeface="Heebo" pitchFamily="34" charset="-122"/>
                <a:cs typeface="Heebo" pitchFamily="34" charset="-120"/>
              </a:rPr>
              <a:t>Color images provide more information for AI models, leading to improved accuracy in tasks like object recognition, image classification, and image segmentation.</a:t>
            </a:r>
            <a:endParaRPr lang="en-US" sz="1650" dirty="0"/>
          </a:p>
        </p:txBody>
      </p:sp>
      <p:pic>
        <p:nvPicPr>
          <p:cNvPr id="10" name="Image 3" descr="preencoded.png"/>
          <p:cNvPicPr>
            <a:picLocks noChangeAspect="1"/>
          </p:cNvPicPr>
          <p:nvPr/>
        </p:nvPicPr>
        <p:blipFill>
          <a:blip r:embed="rId6"/>
          <a:stretch>
            <a:fillRect/>
          </a:stretch>
        </p:blipFill>
        <p:spPr>
          <a:xfrm>
            <a:off x="6221611" y="5768935"/>
            <a:ext cx="1050369" cy="1882259"/>
          </a:xfrm>
          <a:prstGeom prst="rect">
            <a:avLst/>
          </a:prstGeom>
        </p:spPr>
      </p:pic>
      <p:sp>
        <p:nvSpPr>
          <p:cNvPr id="11" name="Text 5"/>
          <p:cNvSpPr/>
          <p:nvPr/>
        </p:nvSpPr>
        <p:spPr>
          <a:xfrm>
            <a:off x="7587020" y="5978962"/>
            <a:ext cx="2625923" cy="328255"/>
          </a:xfrm>
          <a:prstGeom prst="rect">
            <a:avLst/>
          </a:prstGeom>
          <a:noFill/>
          <a:ln/>
        </p:spPr>
        <p:txBody>
          <a:bodyPr wrap="none" lIns="0" tIns="0" rIns="0" bIns="0" rtlCol="0" anchor="t"/>
          <a:lstStyle/>
          <a:p>
            <a:pPr marL="0" indent="0" algn="l">
              <a:lnSpc>
                <a:spcPts val="2550"/>
              </a:lnSpc>
              <a:buNone/>
            </a:pPr>
            <a:r>
              <a:rPr lang="en-US" sz="2050" dirty="0">
                <a:solidFill>
                  <a:srgbClr val="DCD7E5"/>
                </a:solidFill>
                <a:latin typeface="Montserrat" pitchFamily="34" charset="0"/>
                <a:ea typeface="Montserrat" pitchFamily="34" charset="-122"/>
                <a:cs typeface="Montserrat" pitchFamily="34" charset="-120"/>
              </a:rPr>
              <a:t>AI Advancements</a:t>
            </a:r>
            <a:endParaRPr lang="en-US" sz="2050" dirty="0"/>
          </a:p>
        </p:txBody>
      </p:sp>
      <p:sp>
        <p:nvSpPr>
          <p:cNvPr id="12" name="Text 6"/>
          <p:cNvSpPr/>
          <p:nvPr/>
        </p:nvSpPr>
        <p:spPr>
          <a:xfrm>
            <a:off x="7587020" y="6433185"/>
            <a:ext cx="6308169" cy="1007983"/>
          </a:xfrm>
          <a:prstGeom prst="rect">
            <a:avLst/>
          </a:prstGeom>
          <a:noFill/>
          <a:ln/>
        </p:spPr>
        <p:txBody>
          <a:bodyPr wrap="square" lIns="0" tIns="0" rIns="0" bIns="0" rtlCol="0" anchor="t"/>
          <a:lstStyle/>
          <a:p>
            <a:pPr marL="0" indent="0" algn="l">
              <a:lnSpc>
                <a:spcPts val="2600"/>
              </a:lnSpc>
              <a:buNone/>
            </a:pPr>
            <a:r>
              <a:rPr lang="en-US" sz="1650" dirty="0">
                <a:solidFill>
                  <a:srgbClr val="DCD7E5"/>
                </a:solidFill>
                <a:latin typeface="Heebo" pitchFamily="34" charset="0"/>
                <a:ea typeface="Heebo" pitchFamily="34" charset="-122"/>
                <a:cs typeface="Heebo" pitchFamily="34" charset="-120"/>
              </a:rPr>
              <a:t>Colorized datasets can contribute to the development of more advanced AI models that can better understand and interpret visual information.</a:t>
            </a:r>
            <a:endParaRPr lang="en-US" sz="1650" dirty="0"/>
          </a:p>
        </p:txBody>
      </p:sp>
      <p:sp>
        <p:nvSpPr>
          <p:cNvPr id="13" name="Rounded Rectangle 12"/>
          <p:cNvSpPr/>
          <p:nvPr/>
        </p:nvSpPr>
        <p:spPr>
          <a:xfrm>
            <a:off x="12058650" y="7651194"/>
            <a:ext cx="2476500" cy="514350"/>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err="1" smtClean="0">
                <a:solidFill>
                  <a:schemeClr val="bg1"/>
                </a:solidFill>
                <a:latin typeface="Britannic Bold" pitchFamily="34" charset="0"/>
                <a:ea typeface="Montserrat" pitchFamily="34" charset="-122"/>
                <a:cs typeface="Montserrat" pitchFamily="34" charset="-120"/>
              </a:rPr>
              <a:t>RevivingPxls</a:t>
            </a:r>
            <a:endParaRPr lang="en-IN" b="1" dirty="0">
              <a:solidFill>
                <a:schemeClr val="bg1"/>
              </a:solidFill>
              <a:latin typeface="Britannic Bold"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3914" y="655201"/>
            <a:ext cx="10132100" cy="744498"/>
          </a:xfrm>
          <a:prstGeom prst="rect">
            <a:avLst/>
          </a:prstGeom>
          <a:noFill/>
          <a:ln/>
        </p:spPr>
        <p:txBody>
          <a:bodyPr wrap="none" lIns="0" tIns="0" rIns="0" bIns="0" rtlCol="0" anchor="t"/>
          <a:lstStyle/>
          <a:p>
            <a:pPr marL="0" indent="0">
              <a:lnSpc>
                <a:spcPts val="5850"/>
              </a:lnSpc>
              <a:buNone/>
            </a:pPr>
            <a:r>
              <a:rPr lang="en-US" sz="4650" dirty="0">
                <a:solidFill>
                  <a:srgbClr val="F2F0F4"/>
                </a:solidFill>
                <a:latin typeface="Montserrat" pitchFamily="34" charset="0"/>
                <a:ea typeface="Montserrat" pitchFamily="34" charset="-122"/>
                <a:cs typeface="Montserrat" pitchFamily="34" charset="-120"/>
              </a:rPr>
              <a:t>Applications - Education &amp; History</a:t>
            </a:r>
            <a:endParaRPr lang="en-US" sz="4650" dirty="0"/>
          </a:p>
        </p:txBody>
      </p:sp>
      <p:pic>
        <p:nvPicPr>
          <p:cNvPr id="3" name="Image 0" descr="preencoded.png"/>
          <p:cNvPicPr>
            <a:picLocks noChangeAspect="1"/>
          </p:cNvPicPr>
          <p:nvPr/>
        </p:nvPicPr>
        <p:blipFill>
          <a:blip r:embed="rId3"/>
          <a:stretch>
            <a:fillRect/>
          </a:stretch>
        </p:blipFill>
        <p:spPr>
          <a:xfrm>
            <a:off x="833914" y="1876187"/>
            <a:ext cx="6302573" cy="3895249"/>
          </a:xfrm>
          <a:prstGeom prst="rect">
            <a:avLst/>
          </a:prstGeom>
        </p:spPr>
      </p:pic>
      <p:sp>
        <p:nvSpPr>
          <p:cNvPr id="4" name="Text 1"/>
          <p:cNvSpPr/>
          <p:nvPr/>
        </p:nvSpPr>
        <p:spPr>
          <a:xfrm>
            <a:off x="833914" y="6069211"/>
            <a:ext cx="2978468" cy="372308"/>
          </a:xfrm>
          <a:prstGeom prst="rect">
            <a:avLst/>
          </a:prstGeom>
          <a:noFill/>
          <a:ln/>
        </p:spPr>
        <p:txBody>
          <a:bodyPr wrap="none" lIns="0" tIns="0" rIns="0" bIns="0" rtlCol="0" anchor="t"/>
          <a:lstStyle/>
          <a:p>
            <a:pPr marL="0" indent="0" algn="l">
              <a:lnSpc>
                <a:spcPts val="2900"/>
              </a:lnSpc>
              <a:buNone/>
            </a:pPr>
            <a:r>
              <a:rPr lang="en-US" sz="2300" dirty="0">
                <a:solidFill>
                  <a:srgbClr val="DCD7E5"/>
                </a:solidFill>
                <a:latin typeface="Montserrat" pitchFamily="34" charset="0"/>
                <a:ea typeface="Montserrat" pitchFamily="34" charset="-122"/>
                <a:cs typeface="Montserrat" pitchFamily="34" charset="-120"/>
              </a:rPr>
              <a:t>Visual Engagement</a:t>
            </a:r>
            <a:endParaRPr lang="en-US" sz="2300" dirty="0"/>
          </a:p>
        </p:txBody>
      </p:sp>
      <p:sp>
        <p:nvSpPr>
          <p:cNvPr id="5" name="Text 2"/>
          <p:cNvSpPr/>
          <p:nvPr/>
        </p:nvSpPr>
        <p:spPr>
          <a:xfrm>
            <a:off x="833914" y="6584394"/>
            <a:ext cx="6302573" cy="762238"/>
          </a:xfrm>
          <a:prstGeom prst="rect">
            <a:avLst/>
          </a:prstGeom>
          <a:noFill/>
          <a:ln/>
        </p:spPr>
        <p:txBody>
          <a:bodyPr wrap="square" lIns="0" tIns="0" rIns="0" bIns="0" rtlCol="0" anchor="t"/>
          <a:lstStyle/>
          <a:p>
            <a:pPr marL="0" indent="0" algn="l">
              <a:lnSpc>
                <a:spcPts val="3000"/>
              </a:lnSpc>
              <a:buNone/>
            </a:pPr>
            <a:r>
              <a:rPr lang="en-US" sz="1850" dirty="0">
                <a:solidFill>
                  <a:srgbClr val="DCD7E5"/>
                </a:solidFill>
                <a:latin typeface="Heebo" pitchFamily="34" charset="0"/>
                <a:ea typeface="Heebo" pitchFamily="34" charset="-122"/>
                <a:cs typeface="Heebo" pitchFamily="34" charset="-120"/>
              </a:rPr>
              <a:t>Colorized historical images can bring history to life for students, making learning more engaging and immersive.</a:t>
            </a:r>
            <a:endParaRPr lang="en-US" sz="1850" dirty="0"/>
          </a:p>
        </p:txBody>
      </p:sp>
      <p:pic>
        <p:nvPicPr>
          <p:cNvPr id="6" name="Image 1" descr="preencoded.png"/>
          <p:cNvPicPr>
            <a:picLocks noChangeAspect="1"/>
          </p:cNvPicPr>
          <p:nvPr/>
        </p:nvPicPr>
        <p:blipFill>
          <a:blip r:embed="rId4"/>
          <a:stretch>
            <a:fillRect/>
          </a:stretch>
        </p:blipFill>
        <p:spPr>
          <a:xfrm>
            <a:off x="7493794" y="1876187"/>
            <a:ext cx="6302693" cy="3895249"/>
          </a:xfrm>
          <a:prstGeom prst="rect">
            <a:avLst/>
          </a:prstGeom>
        </p:spPr>
      </p:pic>
      <p:sp>
        <p:nvSpPr>
          <p:cNvPr id="7" name="Text 3"/>
          <p:cNvSpPr/>
          <p:nvPr/>
        </p:nvSpPr>
        <p:spPr>
          <a:xfrm>
            <a:off x="7493794" y="6069211"/>
            <a:ext cx="3871793" cy="372308"/>
          </a:xfrm>
          <a:prstGeom prst="rect">
            <a:avLst/>
          </a:prstGeom>
          <a:noFill/>
          <a:ln/>
        </p:spPr>
        <p:txBody>
          <a:bodyPr wrap="none" lIns="0" tIns="0" rIns="0" bIns="0" rtlCol="0" anchor="t"/>
          <a:lstStyle/>
          <a:p>
            <a:pPr marL="0" indent="0" algn="l">
              <a:lnSpc>
                <a:spcPts val="2900"/>
              </a:lnSpc>
              <a:buNone/>
            </a:pPr>
            <a:r>
              <a:rPr lang="en-US" sz="2300" dirty="0">
                <a:solidFill>
                  <a:srgbClr val="DCD7E5"/>
                </a:solidFill>
                <a:latin typeface="Montserrat" pitchFamily="34" charset="0"/>
                <a:ea typeface="Montserrat" pitchFamily="34" charset="-122"/>
                <a:cs typeface="Montserrat" pitchFamily="34" charset="-120"/>
              </a:rPr>
              <a:t>Enhanced Understanding</a:t>
            </a:r>
            <a:endParaRPr lang="en-US" sz="2300" dirty="0"/>
          </a:p>
        </p:txBody>
      </p:sp>
      <p:sp>
        <p:nvSpPr>
          <p:cNvPr id="8" name="Text 4"/>
          <p:cNvSpPr/>
          <p:nvPr/>
        </p:nvSpPr>
        <p:spPr>
          <a:xfrm>
            <a:off x="7493794" y="6584394"/>
            <a:ext cx="6302693" cy="1143357"/>
          </a:xfrm>
          <a:prstGeom prst="rect">
            <a:avLst/>
          </a:prstGeom>
          <a:noFill/>
          <a:ln/>
        </p:spPr>
        <p:txBody>
          <a:bodyPr wrap="square" lIns="0" tIns="0" rIns="0" bIns="0" rtlCol="0" anchor="t"/>
          <a:lstStyle/>
          <a:p>
            <a:pPr marL="0" indent="0" algn="l">
              <a:lnSpc>
                <a:spcPts val="3000"/>
              </a:lnSpc>
              <a:buNone/>
            </a:pPr>
            <a:r>
              <a:rPr lang="en-US" sz="1850" dirty="0">
                <a:solidFill>
                  <a:srgbClr val="DCD7E5"/>
                </a:solidFill>
                <a:latin typeface="Heebo" pitchFamily="34" charset="0"/>
                <a:ea typeface="Heebo" pitchFamily="34" charset="-122"/>
                <a:cs typeface="Heebo" pitchFamily="34" charset="-120"/>
              </a:rPr>
              <a:t>Visualizing historical events in color allows students to better understand the context, atmosphere, and details of the past.</a:t>
            </a:r>
            <a:endParaRPr lang="en-US" sz="1850" dirty="0"/>
          </a:p>
        </p:txBody>
      </p:sp>
      <p:sp>
        <p:nvSpPr>
          <p:cNvPr id="9" name="Rounded Rectangle 8"/>
          <p:cNvSpPr/>
          <p:nvPr/>
        </p:nvSpPr>
        <p:spPr>
          <a:xfrm>
            <a:off x="12030075" y="7629525"/>
            <a:ext cx="2476500" cy="514350"/>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err="1" smtClean="0">
                <a:solidFill>
                  <a:schemeClr val="bg1"/>
                </a:solidFill>
                <a:latin typeface="Britannic Bold" pitchFamily="34" charset="0"/>
                <a:ea typeface="Montserrat" pitchFamily="34" charset="-122"/>
                <a:cs typeface="Montserrat" pitchFamily="34" charset="-120"/>
              </a:rPr>
              <a:t>RevivingPxls</a:t>
            </a:r>
            <a:endParaRPr lang="en-IN" b="1" dirty="0">
              <a:solidFill>
                <a:schemeClr val="bg1"/>
              </a:solidFill>
              <a:latin typeface="Britannic Bold"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4037" y="1113711"/>
            <a:ext cx="9625013" cy="771525"/>
          </a:xfrm>
          <a:prstGeom prst="rect">
            <a:avLst/>
          </a:prstGeom>
          <a:noFill/>
          <a:ln/>
        </p:spPr>
        <p:txBody>
          <a:bodyPr wrap="none" lIns="0" tIns="0" rIns="0" bIns="0" rtlCol="0" anchor="t"/>
          <a:lstStyle/>
          <a:p>
            <a:pPr marL="0" indent="0">
              <a:lnSpc>
                <a:spcPts val="6050"/>
              </a:lnSpc>
              <a:buNone/>
            </a:pPr>
            <a:r>
              <a:rPr lang="en-US" sz="4850" dirty="0">
                <a:solidFill>
                  <a:srgbClr val="F2F0F4"/>
                </a:solidFill>
                <a:latin typeface="Montserrat" pitchFamily="34" charset="0"/>
                <a:ea typeface="Montserrat" pitchFamily="34" charset="-122"/>
                <a:cs typeface="Montserrat" pitchFamily="34" charset="-120"/>
              </a:rPr>
              <a:t>Applications - Medical Imaging</a:t>
            </a:r>
            <a:endParaRPr lang="en-US" sz="4850" dirty="0"/>
          </a:p>
        </p:txBody>
      </p:sp>
      <p:pic>
        <p:nvPicPr>
          <p:cNvPr id="3" name="Image 0" descr="preencoded.png"/>
          <p:cNvPicPr>
            <a:picLocks noChangeAspect="1"/>
          </p:cNvPicPr>
          <p:nvPr/>
        </p:nvPicPr>
        <p:blipFill>
          <a:blip r:embed="rId3"/>
          <a:stretch>
            <a:fillRect/>
          </a:stretch>
        </p:blipFill>
        <p:spPr>
          <a:xfrm>
            <a:off x="864037" y="2533174"/>
            <a:ext cx="6150054" cy="4304943"/>
          </a:xfrm>
          <a:prstGeom prst="rect">
            <a:avLst/>
          </a:prstGeom>
        </p:spPr>
      </p:pic>
      <p:sp>
        <p:nvSpPr>
          <p:cNvPr id="4" name="Text 1"/>
          <p:cNvSpPr/>
          <p:nvPr/>
        </p:nvSpPr>
        <p:spPr>
          <a:xfrm>
            <a:off x="7623929" y="2477691"/>
            <a:ext cx="6150054" cy="3950494"/>
          </a:xfrm>
          <a:prstGeom prst="rect">
            <a:avLst/>
          </a:prstGeom>
          <a:noFill/>
          <a:ln/>
        </p:spPr>
        <p:txBody>
          <a:bodyPr wrap="square" lIns="0" tIns="0" rIns="0" bIns="0" rtlCol="0" anchor="t"/>
          <a:lstStyle/>
          <a:p>
            <a:pPr marL="0" indent="0">
              <a:lnSpc>
                <a:spcPts val="3100"/>
              </a:lnSpc>
              <a:buNone/>
            </a:pPr>
            <a:r>
              <a:rPr lang="en-US" sz="1900" dirty="0">
                <a:solidFill>
                  <a:srgbClr val="DCD7E5"/>
                </a:solidFill>
                <a:latin typeface="Heebo" pitchFamily="34" charset="0"/>
                <a:ea typeface="Heebo" pitchFamily="34" charset="-122"/>
                <a:cs typeface="Heebo" pitchFamily="34" charset="-120"/>
              </a:rPr>
              <a:t>Current X-rays provide limited information. Colorized X-rays offer improved understanding and clarity for medical professionals. This is especially beneficial for diagnosing and treating complex conditions like fractures, tumors, and infections. Colorization helps differentiate between different tissues and structures, making it easier to identify abnormalities and assess the severity of injuries. Moreover, it can enhance the visibility of subtle details, leading to more accurate diagnoses and more effective treatment plans.</a:t>
            </a:r>
            <a:endParaRPr lang="en-US" sz="1900" dirty="0"/>
          </a:p>
        </p:txBody>
      </p:sp>
      <p:sp>
        <p:nvSpPr>
          <p:cNvPr id="5" name="Rounded Rectangle 4"/>
          <p:cNvSpPr/>
          <p:nvPr/>
        </p:nvSpPr>
        <p:spPr>
          <a:xfrm>
            <a:off x="12030075" y="7562850"/>
            <a:ext cx="2476500" cy="514350"/>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err="1" smtClean="0">
                <a:solidFill>
                  <a:schemeClr val="bg1"/>
                </a:solidFill>
                <a:latin typeface="Britannic Bold" pitchFamily="34" charset="0"/>
                <a:ea typeface="Montserrat" pitchFamily="34" charset="-122"/>
                <a:cs typeface="Montserrat" pitchFamily="34" charset="-120"/>
              </a:rPr>
              <a:t>RevivingPxls</a:t>
            </a:r>
            <a:endParaRPr lang="en-IN" b="1" dirty="0">
              <a:solidFill>
                <a:schemeClr val="bg1"/>
              </a:solidFill>
              <a:latin typeface="Britannic Bold"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34006" y="666988"/>
            <a:ext cx="7448788" cy="1513522"/>
          </a:xfrm>
          <a:prstGeom prst="rect">
            <a:avLst/>
          </a:prstGeom>
          <a:noFill/>
          <a:ln/>
        </p:spPr>
        <p:txBody>
          <a:bodyPr wrap="square" lIns="0" tIns="0" rIns="0" bIns="0" rtlCol="0" anchor="t"/>
          <a:lstStyle/>
          <a:p>
            <a:pPr marL="0" indent="0">
              <a:lnSpc>
                <a:spcPts val="5950"/>
              </a:lnSpc>
              <a:buNone/>
            </a:pPr>
            <a:r>
              <a:rPr lang="en-US" sz="4750" dirty="0">
                <a:solidFill>
                  <a:srgbClr val="F2F0F4"/>
                </a:solidFill>
                <a:latin typeface="Montserrat" pitchFamily="34" charset="0"/>
                <a:ea typeface="Montserrat" pitchFamily="34" charset="-122"/>
                <a:cs typeface="Montserrat" pitchFamily="34" charset="-120"/>
              </a:rPr>
              <a:t>Applications - Space Study</a:t>
            </a:r>
            <a:endParaRPr lang="en-US" sz="4750" dirty="0"/>
          </a:p>
        </p:txBody>
      </p:sp>
      <p:pic>
        <p:nvPicPr>
          <p:cNvPr id="4" name="Image 1" descr="preencoded.png"/>
          <p:cNvPicPr>
            <a:picLocks noChangeAspect="1"/>
          </p:cNvPicPr>
          <p:nvPr/>
        </p:nvPicPr>
        <p:blipFill>
          <a:blip r:embed="rId4"/>
          <a:stretch>
            <a:fillRect/>
          </a:stretch>
        </p:blipFill>
        <p:spPr>
          <a:xfrm>
            <a:off x="6334006" y="2543770"/>
            <a:ext cx="605433" cy="605433"/>
          </a:xfrm>
          <a:prstGeom prst="rect">
            <a:avLst/>
          </a:prstGeom>
        </p:spPr>
      </p:pic>
      <p:sp>
        <p:nvSpPr>
          <p:cNvPr id="5" name="Text 1"/>
          <p:cNvSpPr/>
          <p:nvPr/>
        </p:nvSpPr>
        <p:spPr>
          <a:xfrm>
            <a:off x="6334006" y="3391376"/>
            <a:ext cx="3027164" cy="378381"/>
          </a:xfrm>
          <a:prstGeom prst="rect">
            <a:avLst/>
          </a:prstGeom>
          <a:noFill/>
          <a:ln/>
        </p:spPr>
        <p:txBody>
          <a:bodyPr wrap="none" lIns="0" tIns="0" rIns="0" bIns="0" rtlCol="0" anchor="t"/>
          <a:lstStyle/>
          <a:p>
            <a:pPr marL="0" indent="0" algn="l">
              <a:lnSpc>
                <a:spcPts val="2950"/>
              </a:lnSpc>
              <a:buNone/>
            </a:pPr>
            <a:r>
              <a:rPr lang="en-US" sz="2350" dirty="0">
                <a:solidFill>
                  <a:srgbClr val="DCD7E5"/>
                </a:solidFill>
                <a:latin typeface="Montserrat" pitchFamily="34" charset="0"/>
                <a:ea typeface="Montserrat" pitchFamily="34" charset="-122"/>
                <a:cs typeface="Montserrat" pitchFamily="34" charset="-120"/>
              </a:rPr>
              <a:t>Data Analysis</a:t>
            </a:r>
            <a:endParaRPr lang="en-US" sz="2350" dirty="0"/>
          </a:p>
        </p:txBody>
      </p:sp>
      <p:sp>
        <p:nvSpPr>
          <p:cNvPr id="6" name="Text 2"/>
          <p:cNvSpPr/>
          <p:nvPr/>
        </p:nvSpPr>
        <p:spPr>
          <a:xfrm>
            <a:off x="6334006" y="3915013"/>
            <a:ext cx="7448788" cy="774859"/>
          </a:xfrm>
          <a:prstGeom prst="rect">
            <a:avLst/>
          </a:prstGeom>
          <a:noFill/>
          <a:ln/>
        </p:spPr>
        <p:txBody>
          <a:bodyPr wrap="square" lIns="0" tIns="0" rIns="0" bIns="0" rtlCol="0" anchor="t"/>
          <a:lstStyle/>
          <a:p>
            <a:pPr marL="0" indent="0" algn="l">
              <a:lnSpc>
                <a:spcPts val="3050"/>
              </a:lnSpc>
              <a:buNone/>
            </a:pPr>
            <a:r>
              <a:rPr lang="en-US" sz="1900" dirty="0">
                <a:solidFill>
                  <a:srgbClr val="DCD7E5"/>
                </a:solidFill>
                <a:latin typeface="Heebo" pitchFamily="34" charset="0"/>
                <a:ea typeface="Heebo" pitchFamily="34" charset="-122"/>
                <a:cs typeface="Heebo" pitchFamily="34" charset="-120"/>
              </a:rPr>
              <a:t>Colorizing satellite images enhances the visualization of planetary surfaces, atmospheric features, and celestial objects.</a:t>
            </a:r>
            <a:endParaRPr lang="en-US" sz="1900" dirty="0"/>
          </a:p>
        </p:txBody>
      </p:sp>
      <p:pic>
        <p:nvPicPr>
          <p:cNvPr id="7" name="Image 2" descr="preencoded.png"/>
          <p:cNvPicPr>
            <a:picLocks noChangeAspect="1"/>
          </p:cNvPicPr>
          <p:nvPr/>
        </p:nvPicPr>
        <p:blipFill>
          <a:blip r:embed="rId5"/>
          <a:stretch>
            <a:fillRect/>
          </a:stretch>
        </p:blipFill>
        <p:spPr>
          <a:xfrm>
            <a:off x="6334006" y="5416391"/>
            <a:ext cx="605433" cy="605433"/>
          </a:xfrm>
          <a:prstGeom prst="rect">
            <a:avLst/>
          </a:prstGeom>
        </p:spPr>
      </p:pic>
      <p:sp>
        <p:nvSpPr>
          <p:cNvPr id="8" name="Text 3"/>
          <p:cNvSpPr/>
          <p:nvPr/>
        </p:nvSpPr>
        <p:spPr>
          <a:xfrm>
            <a:off x="6334006" y="6263997"/>
            <a:ext cx="3027164" cy="378381"/>
          </a:xfrm>
          <a:prstGeom prst="rect">
            <a:avLst/>
          </a:prstGeom>
          <a:noFill/>
          <a:ln/>
        </p:spPr>
        <p:txBody>
          <a:bodyPr wrap="none" lIns="0" tIns="0" rIns="0" bIns="0" rtlCol="0" anchor="t"/>
          <a:lstStyle/>
          <a:p>
            <a:pPr marL="0" indent="0" algn="l">
              <a:lnSpc>
                <a:spcPts val="2950"/>
              </a:lnSpc>
              <a:buNone/>
            </a:pPr>
            <a:r>
              <a:rPr lang="en-US" sz="2350" dirty="0">
                <a:solidFill>
                  <a:srgbClr val="DCD7E5"/>
                </a:solidFill>
                <a:latin typeface="Montserrat" pitchFamily="34" charset="0"/>
                <a:ea typeface="Montserrat" pitchFamily="34" charset="-122"/>
                <a:cs typeface="Montserrat" pitchFamily="34" charset="-120"/>
              </a:rPr>
              <a:t>Scientific Research</a:t>
            </a:r>
            <a:endParaRPr lang="en-US" sz="2350" dirty="0"/>
          </a:p>
        </p:txBody>
      </p:sp>
      <p:sp>
        <p:nvSpPr>
          <p:cNvPr id="9" name="Text 4"/>
          <p:cNvSpPr/>
          <p:nvPr/>
        </p:nvSpPr>
        <p:spPr>
          <a:xfrm>
            <a:off x="6334006" y="6787634"/>
            <a:ext cx="7448788" cy="774859"/>
          </a:xfrm>
          <a:prstGeom prst="rect">
            <a:avLst/>
          </a:prstGeom>
          <a:noFill/>
          <a:ln/>
        </p:spPr>
        <p:txBody>
          <a:bodyPr wrap="square" lIns="0" tIns="0" rIns="0" bIns="0" rtlCol="0" anchor="t"/>
          <a:lstStyle/>
          <a:p>
            <a:pPr marL="0" indent="0" algn="l">
              <a:lnSpc>
                <a:spcPts val="3050"/>
              </a:lnSpc>
              <a:buNone/>
            </a:pPr>
            <a:r>
              <a:rPr lang="en-US" sz="1900" dirty="0">
                <a:solidFill>
                  <a:srgbClr val="DCD7E5"/>
                </a:solidFill>
                <a:latin typeface="Heebo" pitchFamily="34" charset="0"/>
                <a:ea typeface="Heebo" pitchFamily="34" charset="-122"/>
                <a:cs typeface="Heebo" pitchFamily="34" charset="-120"/>
              </a:rPr>
              <a:t>Colorized space images provide valuable data for scientists studying planetary geology, atmospheric dynamics, and celestial phenomena.</a:t>
            </a:r>
            <a:endParaRPr lang="en-US" sz="1900" dirty="0"/>
          </a:p>
        </p:txBody>
      </p:sp>
      <p:sp>
        <p:nvSpPr>
          <p:cNvPr id="10" name="Rounded Rectangle 9"/>
          <p:cNvSpPr/>
          <p:nvPr/>
        </p:nvSpPr>
        <p:spPr>
          <a:xfrm>
            <a:off x="12153900" y="7629525"/>
            <a:ext cx="2476500" cy="514350"/>
          </a:xfrm>
          <a:prstGeom prst="roundRect">
            <a:avLst>
              <a:gd name="adj" fmla="val 11111"/>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err="1" smtClean="0">
                <a:solidFill>
                  <a:schemeClr val="bg1"/>
                </a:solidFill>
                <a:latin typeface="Britannic Bold" pitchFamily="34" charset="0"/>
                <a:ea typeface="Montserrat" pitchFamily="34" charset="-122"/>
                <a:cs typeface="Montserrat" pitchFamily="34" charset="-120"/>
              </a:rPr>
              <a:t>RevivingPxls</a:t>
            </a:r>
            <a:endParaRPr lang="en-IN" b="1" dirty="0">
              <a:solidFill>
                <a:schemeClr val="bg1"/>
              </a:solidFill>
              <a:latin typeface="Britannic Bold"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34720" y="682228"/>
            <a:ext cx="7447359" cy="2272427"/>
          </a:xfrm>
          <a:prstGeom prst="rect">
            <a:avLst/>
          </a:prstGeom>
          <a:noFill/>
          <a:ln/>
        </p:spPr>
        <p:txBody>
          <a:bodyPr wrap="square" lIns="0" tIns="0" rIns="0" bIns="0" rtlCol="0" anchor="t"/>
          <a:lstStyle/>
          <a:p>
            <a:pPr marL="0" indent="0">
              <a:lnSpc>
                <a:spcPts val="5950"/>
              </a:lnSpc>
              <a:buNone/>
            </a:pPr>
            <a:r>
              <a:rPr lang="en-US" sz="4750" dirty="0">
                <a:solidFill>
                  <a:srgbClr val="F2F0F4"/>
                </a:solidFill>
                <a:latin typeface="Montserrat" pitchFamily="34" charset="0"/>
                <a:ea typeface="Montserrat" pitchFamily="34" charset="-122"/>
                <a:cs typeface="Montserrat" pitchFamily="34" charset="-120"/>
              </a:rPr>
              <a:t>Applications - Emotional Impact (Old Memories)</a:t>
            </a:r>
            <a:endParaRPr lang="en-US" sz="4750" dirty="0"/>
          </a:p>
        </p:txBody>
      </p:sp>
      <p:sp>
        <p:nvSpPr>
          <p:cNvPr id="4" name="Shape 1"/>
          <p:cNvSpPr/>
          <p:nvPr/>
        </p:nvSpPr>
        <p:spPr>
          <a:xfrm>
            <a:off x="6334720" y="3318153"/>
            <a:ext cx="7447359" cy="1799511"/>
          </a:xfrm>
          <a:prstGeom prst="roundRect">
            <a:avLst>
              <a:gd name="adj" fmla="val 5658"/>
            </a:avLst>
          </a:prstGeom>
          <a:solidFill>
            <a:srgbClr val="31136C"/>
          </a:solidFill>
          <a:ln w="7620">
            <a:solidFill>
              <a:srgbClr val="4A2C85"/>
            </a:solidFill>
            <a:prstDash val="solid"/>
          </a:ln>
        </p:spPr>
      </p:sp>
      <p:sp>
        <p:nvSpPr>
          <p:cNvPr id="5" name="Text 2"/>
          <p:cNvSpPr/>
          <p:nvPr/>
        </p:nvSpPr>
        <p:spPr>
          <a:xfrm>
            <a:off x="6584632" y="3568065"/>
            <a:ext cx="3029903" cy="378738"/>
          </a:xfrm>
          <a:prstGeom prst="rect">
            <a:avLst/>
          </a:prstGeom>
          <a:noFill/>
          <a:ln/>
        </p:spPr>
        <p:txBody>
          <a:bodyPr wrap="none" lIns="0" tIns="0" rIns="0" bIns="0" rtlCol="0" anchor="t"/>
          <a:lstStyle/>
          <a:p>
            <a:pPr marL="0" indent="0">
              <a:lnSpc>
                <a:spcPts val="2950"/>
              </a:lnSpc>
              <a:buNone/>
            </a:pPr>
            <a:r>
              <a:rPr lang="en-US" sz="2350" dirty="0">
                <a:solidFill>
                  <a:srgbClr val="DCD7E5"/>
                </a:solidFill>
                <a:latin typeface="Montserrat" pitchFamily="34" charset="0"/>
                <a:ea typeface="Montserrat" pitchFamily="34" charset="-122"/>
                <a:cs typeface="Montserrat" pitchFamily="34" charset="-120"/>
              </a:rPr>
              <a:t>Reviving Memories</a:t>
            </a:r>
            <a:endParaRPr lang="en-US" sz="2350" dirty="0"/>
          </a:p>
        </p:txBody>
      </p:sp>
      <p:sp>
        <p:nvSpPr>
          <p:cNvPr id="6" name="Text 3"/>
          <p:cNvSpPr/>
          <p:nvPr/>
        </p:nvSpPr>
        <p:spPr>
          <a:xfrm>
            <a:off x="6584632" y="4092178"/>
            <a:ext cx="6947535" cy="775573"/>
          </a:xfrm>
          <a:prstGeom prst="rect">
            <a:avLst/>
          </a:prstGeom>
          <a:noFill/>
          <a:ln/>
        </p:spPr>
        <p:txBody>
          <a:bodyPr wrap="square" lIns="0" tIns="0" rIns="0" bIns="0" rtlCol="0" anchor="t"/>
          <a:lstStyle/>
          <a:p>
            <a:pPr marL="0" indent="0">
              <a:lnSpc>
                <a:spcPts val="3050"/>
              </a:lnSpc>
              <a:buNone/>
            </a:pPr>
            <a:r>
              <a:rPr lang="en-US" sz="1900" dirty="0">
                <a:solidFill>
                  <a:srgbClr val="DCD7E5"/>
                </a:solidFill>
                <a:latin typeface="Heebo" pitchFamily="34" charset="0"/>
                <a:ea typeface="Heebo" pitchFamily="34" charset="-122"/>
                <a:cs typeface="Heebo" pitchFamily="34" charset="-120"/>
              </a:rPr>
              <a:t>Colorizing old family photos can bring back vivid memories, making them more personal and heartwarming for families.</a:t>
            </a:r>
            <a:endParaRPr lang="en-US" sz="1900" dirty="0"/>
          </a:p>
        </p:txBody>
      </p:sp>
      <p:sp>
        <p:nvSpPr>
          <p:cNvPr id="7" name="Shape 4"/>
          <p:cNvSpPr/>
          <p:nvPr/>
        </p:nvSpPr>
        <p:spPr>
          <a:xfrm>
            <a:off x="6334720" y="5359956"/>
            <a:ext cx="7447359" cy="2187297"/>
          </a:xfrm>
          <a:prstGeom prst="roundRect">
            <a:avLst>
              <a:gd name="adj" fmla="val 4654"/>
            </a:avLst>
          </a:prstGeom>
          <a:solidFill>
            <a:srgbClr val="31136C"/>
          </a:solidFill>
          <a:ln w="7620">
            <a:solidFill>
              <a:srgbClr val="4A2C85"/>
            </a:solidFill>
            <a:prstDash val="solid"/>
          </a:ln>
        </p:spPr>
      </p:sp>
      <p:sp>
        <p:nvSpPr>
          <p:cNvPr id="8" name="Text 5"/>
          <p:cNvSpPr/>
          <p:nvPr/>
        </p:nvSpPr>
        <p:spPr>
          <a:xfrm>
            <a:off x="6584632" y="5609868"/>
            <a:ext cx="3029903" cy="378738"/>
          </a:xfrm>
          <a:prstGeom prst="rect">
            <a:avLst/>
          </a:prstGeom>
          <a:noFill/>
          <a:ln/>
        </p:spPr>
        <p:txBody>
          <a:bodyPr wrap="none" lIns="0" tIns="0" rIns="0" bIns="0" rtlCol="0" anchor="t"/>
          <a:lstStyle/>
          <a:p>
            <a:pPr marL="0" indent="0">
              <a:lnSpc>
                <a:spcPts val="2950"/>
              </a:lnSpc>
              <a:buNone/>
            </a:pPr>
            <a:r>
              <a:rPr lang="en-US" sz="2350" dirty="0">
                <a:solidFill>
                  <a:srgbClr val="DCD7E5"/>
                </a:solidFill>
                <a:latin typeface="Montserrat" pitchFamily="34" charset="0"/>
                <a:ea typeface="Montserrat" pitchFamily="34" charset="-122"/>
                <a:cs typeface="Montserrat" pitchFamily="34" charset="-120"/>
              </a:rPr>
              <a:t>Sentimental Value</a:t>
            </a:r>
            <a:endParaRPr lang="en-US" sz="2350" dirty="0"/>
          </a:p>
        </p:txBody>
      </p:sp>
      <p:sp>
        <p:nvSpPr>
          <p:cNvPr id="9" name="Text 6"/>
          <p:cNvSpPr/>
          <p:nvPr/>
        </p:nvSpPr>
        <p:spPr>
          <a:xfrm>
            <a:off x="6584632" y="6133981"/>
            <a:ext cx="6947535" cy="1163360"/>
          </a:xfrm>
          <a:prstGeom prst="rect">
            <a:avLst/>
          </a:prstGeom>
          <a:noFill/>
          <a:ln/>
        </p:spPr>
        <p:txBody>
          <a:bodyPr wrap="square" lIns="0" tIns="0" rIns="0" bIns="0" rtlCol="0" anchor="t"/>
          <a:lstStyle/>
          <a:p>
            <a:pPr marL="0" indent="0">
              <a:lnSpc>
                <a:spcPts val="3050"/>
              </a:lnSpc>
              <a:buNone/>
            </a:pPr>
            <a:r>
              <a:rPr lang="en-US" sz="1900" dirty="0">
                <a:solidFill>
                  <a:srgbClr val="DCD7E5"/>
                </a:solidFill>
                <a:latin typeface="Heebo" pitchFamily="34" charset="0"/>
                <a:ea typeface="Heebo" pitchFamily="34" charset="-122"/>
                <a:cs typeface="Heebo" pitchFamily="34" charset="-120"/>
              </a:rPr>
              <a:t>Transforming faded black-and-white pictures into colorful images can evoke strong emotions, creating cherished keepsakes for generations to come.</a:t>
            </a:r>
            <a:endParaRPr lang="en-US" sz="1900" dirty="0"/>
          </a:p>
        </p:txBody>
      </p:sp>
      <p:sp>
        <p:nvSpPr>
          <p:cNvPr id="10" name="Rounded Rectangle 9"/>
          <p:cNvSpPr/>
          <p:nvPr/>
        </p:nvSpPr>
        <p:spPr>
          <a:xfrm>
            <a:off x="12049125" y="7648575"/>
            <a:ext cx="2476500" cy="514350"/>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err="1" smtClean="0">
                <a:solidFill>
                  <a:schemeClr val="bg1"/>
                </a:solidFill>
                <a:latin typeface="Britannic Bold" pitchFamily="34" charset="0"/>
                <a:ea typeface="Montserrat" pitchFamily="34" charset="-122"/>
                <a:cs typeface="Montserrat" pitchFamily="34" charset="-120"/>
              </a:rPr>
              <a:t>RevivingPxls</a:t>
            </a:r>
            <a:endParaRPr lang="en-IN" b="1" dirty="0">
              <a:solidFill>
                <a:schemeClr val="bg1"/>
              </a:solidFill>
              <a:latin typeface="Britannic Bold"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714</Words>
  <Application>Microsoft Office PowerPoint</Application>
  <PresentationFormat>Custom</PresentationFormat>
  <Paragraphs>80</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Heebo</vt:lpstr>
      <vt:lpstr>Montserrat</vt:lpstr>
      <vt:lpstr>Calibri</vt:lpstr>
      <vt:lpstr>Britannic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3</cp:revision>
  <dcterms:created xsi:type="dcterms:W3CDTF">2024-09-10T19:13:09Z</dcterms:created>
  <dcterms:modified xsi:type="dcterms:W3CDTF">2024-09-10T19:31:26Z</dcterms:modified>
</cp:coreProperties>
</file>